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Shape 70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71" name="Shape 71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Shape 17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5" name="Shape 17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El PEI presenta una inconsistencia interna que hay que resolver antes de radicar. En los datos generales se declara "Media Académica con profundización en el campo de la Educación técnica / especialidad en Programación de Software". En el horizonte y en otros apartados se habla de "Bachillerato Académico con Énfasis en Desarrollo de Software articulado con el SENA", y en la caracterización se menciona el "cambio de modalidad hacia programación de software". Académica con énfasis, académica con profundización y media técnica son figuras jurídicas distintas, con consecuencias distintas. Modificación de licencia de funcionamiento.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FAULT (copia 4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Imagen 5" descr="Imagen 5"/>
          <p:cNvPicPr>
            <a:picLocks noChangeAspect="0"/>
          </p:cNvPicPr>
          <p:nvPr/>
        </p:nvPicPr>
        <p:blipFill>
          <a:blip r:embed="rId2">
            <a:extLst/>
          </a:blip>
          <a:srcRect l="0" t="0" r="26136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FAULT (copia 5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Imagen 5" descr="Imagen 5"/>
          <p:cNvPicPr>
            <a:picLocks noChangeAspect="0"/>
          </p:cNvPicPr>
          <p:nvPr/>
        </p:nvPicPr>
        <p:blipFill>
          <a:blip r:embed="rId2">
            <a:extLst/>
          </a:blip>
          <a:srcRect l="0" t="0" r="26136" b="0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8" name="logo verticalinfo .png" descr="logo verticalinfo 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1037982" y="120593"/>
            <a:ext cx="1024163" cy="1715473"/>
          </a:xfrm>
          <a:prstGeom prst="rect">
            <a:avLst/>
          </a:prstGeom>
          <a:ln w="12700">
            <a:miter lim="400000"/>
          </a:ln>
        </p:spPr>
      </p:pic>
      <p:sp>
        <p:nvSpPr>
          <p:cNvPr id="29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FAULT (copia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fondo1.png" descr="fondo1.png"/>
          <p:cNvPicPr>
            <a:picLocks noChangeAspect="1"/>
          </p:cNvPicPr>
          <p:nvPr/>
        </p:nvPicPr>
        <p:blipFill>
          <a:blip r:embed="rId2">
            <a:extLst/>
          </a:blip>
          <a:srcRect l="1908" t="2065" r="1908" b="2065"/>
          <a:stretch>
            <a:fillRect/>
          </a:stretch>
        </p:blipFill>
        <p:spPr>
          <a:xfrm>
            <a:off x="-2187" y="-783"/>
            <a:ext cx="12196374" cy="6859566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logo verticalinfo .png" descr="logo verticalinfo 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40655" y="294557"/>
            <a:ext cx="1024163" cy="1715474"/>
          </a:xfrm>
          <a:prstGeom prst="rect">
            <a:avLst/>
          </a:prstGeom>
          <a:ln w="12700">
            <a:miter lim="400000"/>
          </a:ln>
        </p:spPr>
      </p:pic>
      <p:sp>
        <p:nvSpPr>
          <p:cNvPr id="38" name="Texto del título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Texto del título</a:t>
            </a:r>
          </a:p>
        </p:txBody>
      </p:sp>
      <p:sp>
        <p:nvSpPr>
          <p:cNvPr id="39" name="Nivel de texto 1…"/>
          <p:cNvSpPr txBox="1"/>
          <p:nvPr>
            <p:ph type="body" idx="1"/>
          </p:nvPr>
        </p:nvSpPr>
        <p:spPr>
          <a:xfrm>
            <a:off x="609600" y="2250614"/>
            <a:ext cx="10972800" cy="4607386"/>
          </a:xfrm>
          <a:prstGeom prst="rect">
            <a:avLst/>
          </a:prstGeom>
        </p:spPr>
        <p:txBody>
          <a:bodyPr/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40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FAULT (copia 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" name="fondo1.png" descr="fondo1.png"/>
          <p:cNvPicPr>
            <a:picLocks noChangeAspect="1"/>
          </p:cNvPicPr>
          <p:nvPr/>
        </p:nvPicPr>
        <p:blipFill>
          <a:blip r:embed="rId2">
            <a:extLst/>
          </a:blip>
          <a:srcRect l="1908" t="2065" r="1908" b="2065"/>
          <a:stretch>
            <a:fillRect/>
          </a:stretch>
        </p:blipFill>
        <p:spPr>
          <a:xfrm>
            <a:off x="-2187" y="-783"/>
            <a:ext cx="12196374" cy="6859566"/>
          </a:xfrm>
          <a:prstGeom prst="rect">
            <a:avLst/>
          </a:prstGeom>
          <a:ln w="12700">
            <a:miter lim="400000"/>
          </a:ln>
        </p:spPr>
      </p:pic>
      <p:sp>
        <p:nvSpPr>
          <p:cNvPr id="48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FAULT (copia 3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fondo1.png" descr="fondo1.png"/>
          <p:cNvPicPr>
            <a:picLocks noChangeAspect="1"/>
          </p:cNvPicPr>
          <p:nvPr/>
        </p:nvPicPr>
        <p:blipFill>
          <a:blip r:embed="rId2">
            <a:extLst/>
          </a:blip>
          <a:srcRect l="1908" t="2065" r="1908" b="2065"/>
          <a:stretch>
            <a:fillRect/>
          </a:stretch>
        </p:blipFill>
        <p:spPr>
          <a:xfrm>
            <a:off x="-2187" y="-783"/>
            <a:ext cx="12196374" cy="6859566"/>
          </a:xfrm>
          <a:prstGeom prst="rect">
            <a:avLst/>
          </a:prstGeom>
          <a:ln w="12700">
            <a:miter lim="400000"/>
          </a:ln>
        </p:spPr>
      </p:pic>
      <p:pic>
        <p:nvPicPr>
          <p:cNvPr id="56" name="Logo eicit_color info .png" descr="Logo eicit_color info .png"/>
          <p:cNvPicPr>
            <a:picLocks noChangeAspect="1"/>
          </p:cNvPicPr>
          <p:nvPr/>
        </p:nvPicPr>
        <p:blipFill>
          <a:blip r:embed="rId3">
            <a:extLst/>
          </a:blip>
          <a:srcRect l="0" t="0" r="0" b="0"/>
          <a:stretch>
            <a:fillRect/>
          </a:stretch>
        </p:blipFill>
        <p:spPr>
          <a:xfrm>
            <a:off x="298360" y="194334"/>
            <a:ext cx="3417134" cy="1316059"/>
          </a:xfrm>
          <a:prstGeom prst="rect">
            <a:avLst/>
          </a:prstGeom>
          <a:ln w="12700">
            <a:miter lim="400000"/>
          </a:ln>
        </p:spPr>
      </p:pic>
      <p:sp>
        <p:nvSpPr>
          <p:cNvPr id="57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Número de diapositiva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5" descr="Imagen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o del título"/>
          <p:cNvSpPr txBox="1"/>
          <p:nvPr>
            <p:ph type="title"/>
          </p:nvPr>
        </p:nvSpPr>
        <p:spPr>
          <a:xfrm>
            <a:off x="609600" y="92074"/>
            <a:ext cx="10972800" cy="15081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Texto del título</a:t>
            </a:r>
          </a:p>
        </p:txBody>
      </p:sp>
      <p:sp>
        <p:nvSpPr>
          <p:cNvPr id="4" name="Nivel de texto 1…"/>
          <p:cNvSpPr txBox="1"/>
          <p:nvPr>
            <p:ph type="body" idx="1"/>
          </p:nvPr>
        </p:nvSpPr>
        <p:spPr>
          <a:xfrm>
            <a:off x="609600" y="1600200"/>
            <a:ext cx="1097280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Nivel de texto 1</a:t>
            </a:r>
          </a:p>
          <a:p>
            <a:pPr lvl="1"/>
            <a:r>
              <a:t>Nivel de texto 2</a:t>
            </a:r>
          </a:p>
          <a:p>
            <a:pPr lvl="2"/>
            <a:r>
              <a:t>Nivel de texto 3</a:t>
            </a:r>
          </a:p>
          <a:p>
            <a:pPr lvl="3"/>
            <a:r>
              <a:t>Nivel de texto 4</a:t>
            </a:r>
          </a:p>
          <a:p>
            <a:pPr lvl="4"/>
            <a:r>
              <a:t>Nivel de texto 5</a:t>
            </a:r>
          </a:p>
        </p:txBody>
      </p:sp>
      <p:sp>
        <p:nvSpPr>
          <p:cNvPr id="5" name="Número de diapositiva"/>
          <p:cNvSpPr txBox="1"/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4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Shape 0"/>
          <p:cNvSpPr/>
          <p:nvPr/>
        </p:nvSpPr>
        <p:spPr>
          <a:xfrm>
            <a:off x="9692640" y="-1463040"/>
            <a:ext cx="4114801" cy="4114801"/>
          </a:xfrm>
          <a:prstGeom prst="ellipse">
            <a:avLst/>
          </a:prstGeom>
          <a:solidFill>
            <a:srgbClr val="2E75B6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4" name="Shape 1"/>
          <p:cNvSpPr/>
          <p:nvPr/>
        </p:nvSpPr>
        <p:spPr>
          <a:xfrm>
            <a:off x="10607040" y="4480559"/>
            <a:ext cx="3200401" cy="3200401"/>
          </a:xfrm>
          <a:prstGeom prst="ellipse">
            <a:avLst/>
          </a:prstGeom>
          <a:solidFill>
            <a:srgbClr val="BF9000">
              <a:alpha val="3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75" name="Text 2"/>
          <p:cNvSpPr txBox="1"/>
          <p:nvPr/>
        </p:nvSpPr>
        <p:spPr>
          <a:xfrm>
            <a:off x="28118" y="1257878"/>
            <a:ext cx="9052560" cy="738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pc="353" sz="2300">
                <a:solidFill>
                  <a:srgbClr val="D5E8F0"/>
                </a:solidFill>
              </a:defRPr>
            </a:lvl1pPr>
          </a:lstStyle>
          <a:p>
            <a:pPr/>
            <a:r>
              <a:t>EICIT — ESCUELA IBEROAMERICANA DE CIENCIAS TÉCNICAS</a:t>
            </a:r>
          </a:p>
        </p:txBody>
      </p:sp>
      <p:sp>
        <p:nvSpPr>
          <p:cNvPr id="76" name="Text 3"/>
          <p:cNvSpPr txBox="1"/>
          <p:nvPr/>
        </p:nvSpPr>
        <p:spPr>
          <a:xfrm>
            <a:off x="685799" y="2434590"/>
            <a:ext cx="7737198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Acompañamiento a la actualización del PEI de la ENSMA</a:t>
            </a:r>
          </a:p>
        </p:txBody>
      </p:sp>
      <p:sp>
        <p:nvSpPr>
          <p:cNvPr id="77" name="Text 4"/>
          <p:cNvSpPr txBox="1"/>
          <p:nvPr/>
        </p:nvSpPr>
        <p:spPr>
          <a:xfrm>
            <a:off x="685799" y="3562833"/>
            <a:ext cx="6592442" cy="738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2300">
                <a:solidFill>
                  <a:srgbClr val="D5E8F0"/>
                </a:solidFill>
              </a:defRPr>
            </a:lvl1pPr>
          </a:lstStyle>
          <a:p>
            <a:pPr/>
            <a:r>
              <a:t>Propuesta metodológica y plan de trabajo — modelo pedagógico, PEI, mallas curriculares y Diplomado en IA</a:t>
            </a:r>
          </a:p>
        </p:txBody>
      </p:sp>
      <p:sp>
        <p:nvSpPr>
          <p:cNvPr id="78" name="Shape 5"/>
          <p:cNvSpPr/>
          <p:nvPr/>
        </p:nvSpPr>
        <p:spPr>
          <a:xfrm>
            <a:off x="640080" y="4572000"/>
            <a:ext cx="2011679" cy="45721"/>
          </a:xfrm>
          <a:prstGeom prst="rect">
            <a:avLst/>
          </a:prstGeom>
          <a:solidFill>
            <a:srgbClr val="BF9000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300"/>
            </a:pPr>
          </a:p>
        </p:txBody>
      </p:sp>
      <p:sp>
        <p:nvSpPr>
          <p:cNvPr id="79" name="Text 6"/>
          <p:cNvSpPr txBox="1"/>
          <p:nvPr/>
        </p:nvSpPr>
        <p:spPr>
          <a:xfrm>
            <a:off x="685800" y="4751553"/>
            <a:ext cx="7412078" cy="738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300">
                <a:solidFill>
                  <a:srgbClr val="FFFFFF"/>
                </a:solidFill>
              </a:defRPr>
            </a:lvl1pPr>
          </a:lstStyle>
          <a:p>
            <a:pPr/>
            <a:r>
              <a:t>En el marco del Convenio EICIT–ENSMA y de la Circular 0064 de 2026 de la Secretaría de Educación de Soacha</a:t>
            </a:r>
          </a:p>
        </p:txBody>
      </p:sp>
      <p:sp>
        <p:nvSpPr>
          <p:cNvPr id="80" name="Text 7"/>
          <p:cNvSpPr txBox="1"/>
          <p:nvPr/>
        </p:nvSpPr>
        <p:spPr>
          <a:xfrm>
            <a:off x="685800" y="6093767"/>
            <a:ext cx="9052560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200">
                <a:solidFill>
                  <a:srgbClr val="9AA6B2"/>
                </a:solidFill>
              </a:defRPr>
            </a:lvl1pPr>
          </a:lstStyle>
          <a:p>
            <a:pPr/>
            <a:r>
              <a:t>Documento para aprobación de supervisión · Soacha, 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0"/>
          <p:cNvSpPr txBox="1"/>
          <p:nvPr/>
        </p:nvSpPr>
        <p:spPr>
          <a:xfrm>
            <a:off x="1604694" y="365232"/>
            <a:ext cx="6631162" cy="612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35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Punto de partida</a:t>
            </a:r>
          </a:p>
        </p:txBody>
      </p:sp>
      <p:sp>
        <p:nvSpPr>
          <p:cNvPr id="83" name="Text 14"/>
          <p:cNvSpPr txBox="1"/>
          <p:nvPr/>
        </p:nvSpPr>
        <p:spPr>
          <a:xfrm>
            <a:off x="11384279" y="6480723"/>
            <a:ext cx="36576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9AA6B2"/>
                </a:solidFill>
              </a:defRPr>
            </a:lvl1pPr>
          </a:lstStyle>
          <a:p>
            <a:pPr/>
            <a:r>
              <a:t>2</a:t>
            </a:r>
          </a:p>
        </p:txBody>
      </p:sp>
      <p:graphicFrame>
        <p:nvGraphicFramePr>
          <p:cNvPr id="84" name="Tabla 1"/>
          <p:cNvGraphicFramePr/>
          <p:nvPr/>
        </p:nvGraphicFramePr>
        <p:xfrm>
          <a:off x="1319969" y="1861252"/>
          <a:ext cx="10027340" cy="6543388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1" rtl="0">
                <a:tableStyleId>{4C3C2611-4C71-4FC5-86AE-919BDF0F9419}</a:tableStyleId>
              </a:tblPr>
              <a:tblGrid>
                <a:gridCol w="5010939"/>
                <a:gridCol w="5003699"/>
              </a:tblGrid>
              <a:tr h="279052"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b="1" sz="120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COMPROMISOS ECIT</a:t>
                      </a:r>
                    </a:p>
                  </a:txBody>
                  <a:tcPr marL="101600" marR="101600" marT="67310" marB="67310" anchor="ctr" anchorCtr="0" horzOverflow="overflow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defTabSz="457200">
                        <a:defRPr sz="1800"/>
                      </a:pPr>
                      <a:r>
                        <a:rPr b="1" sz="1200">
                          <a:solidFill>
                            <a:srgbClr val="222222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TAREA 2</a:t>
                      </a:r>
                    </a:p>
                  </a:txBody>
                  <a:tcPr marL="101600" marR="101600" marT="67310" marB="67310" anchor="ctr" anchorCtr="0" horzOverflow="overflow">
                    <a:solidFill>
                      <a:srgbClr val="D9D9D9"/>
                    </a:solidFill>
                  </a:tcPr>
                </a:tc>
              </a:tr>
              <a:tr h="279052">
                <a:tc>
                  <a:txBody>
                    <a:bodyPr/>
                    <a:lstStyle/>
                    <a:p>
                      <a:pPr marL="160421" indent="-160421" algn="just" defTabSz="457200">
                        <a:spcBef>
                          <a:spcPts val="400"/>
                        </a:spcBef>
                        <a:buSzPct val="100000"/>
                        <a:buAutoNum type="arabicPeriod" startAt="1"/>
                        <a:defRPr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b="1"/>
                        <a:t>Laboratorio de Innovación Tecnológica:</a:t>
                      </a:r>
                      <a:r>
                        <a:t> Suministro a título de comodato, instalación y dotación (Robótica, IA, STEAM, Experimentación Tecnológica, Prototipado, Ciberseguridad, Programación en lenguaje natural).</a:t>
                      </a:r>
                    </a:p>
                    <a:p>
                      <a:pPr marL="160421" indent="-160421" algn="just" defTabSz="457200">
                        <a:spcBef>
                          <a:spcPts val="400"/>
                        </a:spcBef>
                        <a:buSzPct val="100000"/>
                        <a:buAutoNum type="arabicPeriod" startAt="1"/>
                        <a:defRPr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b="1"/>
                        <a:t>Actualización pedagógica:</a:t>
                      </a:r>
                      <a:r>
                        <a:t> en el marco del modelo por competencias.</a:t>
                      </a:r>
                    </a:p>
                    <a:p>
                      <a:pPr marL="160421" indent="-160421" algn="just" defTabSz="457200">
                        <a:spcBef>
                          <a:spcPts val="400"/>
                        </a:spcBef>
                        <a:buSzPct val="100000"/>
                        <a:buAutoNum type="arabicPeriod" startAt="1"/>
                        <a:defRPr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b="1"/>
                        <a:t>Acompañamiento al equipo docente:</a:t>
                      </a:r>
                      <a:r>
                        <a:t> en la implementación del nuevo modelo pedagógico, a través de procesos de formación situados orientados a fortalecer las prácticas de aula y la apropiación de las herramientas tecnológicas.</a:t>
                      </a:r>
                    </a:p>
                    <a:p>
                      <a:pPr marL="160421" indent="-160421" algn="just" defTabSz="457200">
                        <a:spcBef>
                          <a:spcPts val="400"/>
                        </a:spcBef>
                        <a:buSzPct val="100000"/>
                        <a:buAutoNum type="arabicPeriod" startAt="1"/>
                        <a:defRPr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b="1"/>
                        <a:t>Cobertura de costos operativos marginales:</a:t>
                      </a:r>
                      <a:r>
                        <a:t> incremento en el consumo de servicios públicos, aseo de zonas de uso y seguridad privada en horarios pactados.</a:t>
                      </a:r>
                    </a:p>
                    <a:p>
                      <a:pPr marL="160421" indent="-160421" algn="just" defTabSz="457200">
                        <a:spcBef>
                          <a:spcPts val="400"/>
                        </a:spcBef>
                        <a:buSzPct val="100000"/>
                        <a:buAutoNum type="arabicPeriod" startAt="1"/>
                        <a:defRPr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b="1"/>
                        <a:t>Equipo administrativo y de soporte:</a:t>
                      </a:r>
                      <a:r>
                        <a:t> para seguimiento operativo e interlocución permanente con la ENS MA.</a:t>
                      </a:r>
                    </a:p>
                    <a:p>
                      <a:pPr marL="160421" indent="-160421" algn="just" defTabSz="457200">
                        <a:spcBef>
                          <a:spcPts val="400"/>
                        </a:spcBef>
                        <a:buSzPct val="100000"/>
                        <a:buAutoNum type="arabicPeriod" startAt="1"/>
                        <a:defRPr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b="1"/>
                        <a:t>Respeto absoluto</a:t>
                      </a:r>
                      <a:r>
                        <a:t> por la autonomía curricular y la doctrina salesiana de la ENSMA.</a:t>
                      </a:r>
                    </a:p>
                    <a:p>
                      <a:pPr marL="160421" indent="-160421" algn="just" defTabSz="457200">
                        <a:spcBef>
                          <a:spcPts val="500"/>
                        </a:spcBef>
                        <a:buSzPct val="100000"/>
                        <a:buAutoNum type="arabicPeriod" startAt="1"/>
                        <a:defRPr>
                          <a:solidFill>
                            <a:srgbClr val="21212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defRPr>
                      </a:pPr>
                      <a:r>
                        <a:rPr b="1"/>
                        <a:t>Impacto Social </a:t>
                      </a:r>
                      <a:r>
                        <a:t>lograr el</a:t>
                      </a:r>
                      <a:r>
                        <a:rPr b="1"/>
                        <a:t> </a:t>
                      </a:r>
                      <a:r>
                        <a:t>bienestar colectivo, la inclusión de población vulnerable y la transformación social en beneficio de los habitantes del municipio de Soacha y su área de influencia; todo a través de los programas educativos que se implementen  y desarrollen entre las partes.</a:t>
                      </a:r>
                    </a:p>
                  </a:txBody>
                  <a:tcPr marL="101600" marR="101600" marT="67310" marB="67310" anchor="ctr" anchorCtr="0" horzOverflow="overflow">
                    <a:solidFill>
                      <a:srgbClr val="DAF0F5"/>
                    </a:solidFill>
                  </a:tcPr>
                </a:tc>
                <a:tc>
                  <a:txBody>
                    <a:bodyPr/>
                    <a:lstStyle/>
                    <a:p>
                      <a:pPr algn="just" defTabSz="457200">
                        <a:spcBef>
                          <a:spcPts val="400"/>
                        </a:spcBef>
                        <a:defRPr sz="1800"/>
                      </a:pPr>
                      <a:r>
                        <a:rPr b="1" sz="1600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Presentar propuesta metodológica detallada para el acompañamiento en la renovación del modelo pedagógico, el PEI y las mallas curriculares de la ENSMA, incluyendo fases, tiempos, equipo pedagógico asignado y criterios de articulación con el carisma salesiano. La propuesta incluirá el programa del Diplomado en Inteligencia Artificial con contenidos, intensidad horaria y metodología.</a:t>
                      </a:r>
                    </a:p>
                  </a:txBody>
                  <a:tcPr marL="101600" marR="101600" marT="67310" marB="67310" anchor="ctr" anchorCtr="0" horzOverflow="overflow">
                    <a:solidFill>
                      <a:schemeClr val="accent1">
                        <a:satOff val="-3547"/>
                        <a:lumOff val="-10352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85" name="Flecha"/>
          <p:cNvSpPr/>
          <p:nvPr/>
        </p:nvSpPr>
        <p:spPr>
          <a:xfrm rot="16200000">
            <a:off x="8612348" y="5329190"/>
            <a:ext cx="417125" cy="417126"/>
          </a:xfrm>
          <a:prstGeom prst="rightArrow">
            <a:avLst>
              <a:gd name="adj1" fmla="val 32000"/>
              <a:gd name="adj2" fmla="val 64000"/>
            </a:avLst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</p:spPr>
        <p:txBody>
          <a:bodyPr lIns="45719" rIns="45719" anchor="ctr"/>
          <a:lstStyle/>
          <a:p>
            <a:pPr/>
          </a:p>
        </p:txBody>
      </p:sp>
      <p:sp>
        <p:nvSpPr>
          <p:cNvPr id="86" name="Text 11"/>
          <p:cNvSpPr txBox="1"/>
          <p:nvPr/>
        </p:nvSpPr>
        <p:spPr>
          <a:xfrm>
            <a:off x="6489190" y="5696177"/>
            <a:ext cx="4663441" cy="637889"/>
          </a:xfrm>
          <a:prstGeom prst="rect">
            <a:avLst/>
          </a:prstGeom>
          <a:solidFill>
            <a:srgbClr val="FFFFFF"/>
          </a:solidFill>
          <a:ln w="12700">
            <a:solidFill>
              <a:schemeClr val="accent1"/>
            </a:solidFill>
            <a:miter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/>
          </a:lstStyle>
          <a:p>
            <a:pPr/>
            <a:r>
              <a:t>Formular las sugerencias para incorporar innovación y tecnología en el plan de estudios.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Text 0"/>
          <p:cNvSpPr txBox="1"/>
          <p:nvPr/>
        </p:nvSpPr>
        <p:spPr>
          <a:xfrm>
            <a:off x="1604694" y="365232"/>
            <a:ext cx="6631162" cy="612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3500"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2 Tareas</a:t>
            </a:r>
          </a:p>
        </p:txBody>
      </p:sp>
      <p:sp>
        <p:nvSpPr>
          <p:cNvPr id="89" name="Text 1"/>
          <p:cNvSpPr txBox="1"/>
          <p:nvPr/>
        </p:nvSpPr>
        <p:spPr>
          <a:xfrm>
            <a:off x="1605574" y="944760"/>
            <a:ext cx="6629401" cy="4150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2500">
                <a:solidFill>
                  <a:srgbClr val="BF9000"/>
                </a:solidFill>
              </a:defRPr>
            </a:lvl1pPr>
          </a:lstStyle>
          <a:p>
            <a:pPr/>
            <a:r>
              <a:t>Dos tareas: una contiene a la otra</a:t>
            </a:r>
          </a:p>
        </p:txBody>
      </p:sp>
      <p:sp>
        <p:nvSpPr>
          <p:cNvPr id="90" name="Shape 2"/>
          <p:cNvSpPr/>
          <p:nvPr/>
        </p:nvSpPr>
        <p:spPr>
          <a:xfrm>
            <a:off x="567055" y="1908595"/>
            <a:ext cx="5486401" cy="4023361"/>
          </a:xfrm>
          <a:prstGeom prst="roundRect">
            <a:avLst>
              <a:gd name="adj" fmla="val 2727"/>
            </a:avLst>
          </a:prstGeom>
          <a:solidFill>
            <a:srgbClr val="F4F8FC"/>
          </a:solidFill>
          <a:ln w="12700">
            <a:solidFill>
              <a:srgbClr val="2E75B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1" name="Shape 3"/>
          <p:cNvSpPr/>
          <p:nvPr/>
        </p:nvSpPr>
        <p:spPr>
          <a:xfrm>
            <a:off x="887095" y="2228635"/>
            <a:ext cx="640081" cy="640081"/>
          </a:xfrm>
          <a:prstGeom prst="ellipse">
            <a:avLst/>
          </a:prstGeom>
          <a:solidFill>
            <a:srgbClr val="1F4E7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2" name="Text 4"/>
          <p:cNvSpPr txBox="1"/>
          <p:nvPr/>
        </p:nvSpPr>
        <p:spPr>
          <a:xfrm>
            <a:off x="932815" y="2369605"/>
            <a:ext cx="548641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93" name="Text 5"/>
          <p:cNvSpPr txBox="1"/>
          <p:nvPr/>
        </p:nvSpPr>
        <p:spPr>
          <a:xfrm>
            <a:off x="1755775" y="2398378"/>
            <a:ext cx="4023360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600">
                <a:solidFill>
                  <a:srgbClr val="1F4E79"/>
                </a:solidFill>
              </a:defRPr>
            </a:lvl1pPr>
          </a:lstStyle>
          <a:p>
            <a:pPr/>
            <a:r>
              <a:t>Tarea mayor (Compromiso 2)</a:t>
            </a:r>
          </a:p>
        </p:txBody>
      </p:sp>
      <p:sp>
        <p:nvSpPr>
          <p:cNvPr id="94" name="Text 6"/>
          <p:cNvSpPr txBox="1"/>
          <p:nvPr/>
        </p:nvSpPr>
        <p:spPr>
          <a:xfrm>
            <a:off x="932814" y="3005875"/>
            <a:ext cx="4846322" cy="26063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spcBef>
                <a:spcPts val="600"/>
              </a:spcBef>
              <a:defRPr b="1">
                <a:solidFill>
                  <a:srgbClr val="404040"/>
                </a:solidFill>
              </a:defRPr>
            </a:pPr>
            <a:r>
              <a:t>Propuesta metodológica para acompañar la renovación de:</a:t>
            </a:r>
          </a:p>
          <a:p>
            <a:pPr marL="342900" indent="-342900">
              <a:spcBef>
                <a:spcPts val="400"/>
              </a:spcBef>
              <a:buSzPct val="100000"/>
              <a:buChar char="•"/>
              <a:defRPr>
                <a:solidFill>
                  <a:srgbClr val="404040"/>
                </a:solidFill>
              </a:defRPr>
            </a:pPr>
            <a:r>
              <a:t>Modelo pedagógico</a:t>
            </a:r>
          </a:p>
          <a:p>
            <a:pPr marL="342900" indent="-342900">
              <a:spcBef>
                <a:spcPts val="400"/>
              </a:spcBef>
              <a:buSzPct val="100000"/>
              <a:buChar char="•"/>
              <a:defRPr>
                <a:solidFill>
                  <a:srgbClr val="404040"/>
                </a:solidFill>
              </a:defRPr>
            </a:pPr>
            <a:r>
              <a:t>PEI completo</a:t>
            </a:r>
          </a:p>
          <a:p>
            <a:pPr marL="342900" indent="-342900">
              <a:spcBef>
                <a:spcPts val="400"/>
              </a:spcBef>
              <a:buSzPct val="100000"/>
              <a:buChar char="•"/>
              <a:defRPr>
                <a:solidFill>
                  <a:srgbClr val="404040"/>
                </a:solidFill>
              </a:defRPr>
            </a:pPr>
            <a:r>
              <a:t>Mallas curriculares (fases, tiempos, equipo, articulación con el carisma)</a:t>
            </a:r>
          </a:p>
          <a:p>
            <a:pPr marL="342900" indent="-342900">
              <a:buSzPct val="100000"/>
              <a:buChar char="•"/>
              <a:defRPr>
                <a:solidFill>
                  <a:srgbClr val="404040"/>
                </a:solidFill>
              </a:defRPr>
            </a:pPr>
            <a:r>
              <a:t>Programa del Diplomado en IA (contenidos, horas, metodología)</a:t>
            </a:r>
          </a:p>
        </p:txBody>
      </p:sp>
      <p:sp>
        <p:nvSpPr>
          <p:cNvPr id="95" name="Shape 7"/>
          <p:cNvSpPr/>
          <p:nvPr/>
        </p:nvSpPr>
        <p:spPr>
          <a:xfrm>
            <a:off x="6236335" y="1908595"/>
            <a:ext cx="5394961" cy="4023361"/>
          </a:xfrm>
          <a:prstGeom prst="roundRect">
            <a:avLst>
              <a:gd name="adj" fmla="val 2727"/>
            </a:avLst>
          </a:prstGeom>
          <a:solidFill>
            <a:srgbClr val="1F4E7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6" name="Shape 8"/>
          <p:cNvSpPr/>
          <p:nvPr/>
        </p:nvSpPr>
        <p:spPr>
          <a:xfrm>
            <a:off x="6556375" y="2228635"/>
            <a:ext cx="640081" cy="640081"/>
          </a:xfrm>
          <a:prstGeom prst="ellipse">
            <a:avLst/>
          </a:prstGeom>
          <a:solidFill>
            <a:srgbClr val="BF9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97" name="Text 9"/>
          <p:cNvSpPr txBox="1"/>
          <p:nvPr/>
        </p:nvSpPr>
        <p:spPr>
          <a:xfrm>
            <a:off x="6602094" y="2369605"/>
            <a:ext cx="548641" cy="358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>
                <a:solidFill>
                  <a:srgbClr val="1F4E79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98" name="Text 10"/>
          <p:cNvSpPr txBox="1"/>
          <p:nvPr/>
        </p:nvSpPr>
        <p:spPr>
          <a:xfrm>
            <a:off x="7425054" y="2398378"/>
            <a:ext cx="384048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600">
                <a:solidFill>
                  <a:srgbClr val="FFFFFF"/>
                </a:solidFill>
              </a:defRPr>
            </a:lvl1pPr>
          </a:lstStyle>
          <a:p>
            <a:pPr/>
            <a:r>
              <a:t>Tarea contenida</a:t>
            </a:r>
          </a:p>
        </p:txBody>
      </p:sp>
      <p:sp>
        <p:nvSpPr>
          <p:cNvPr id="99" name="Text 11"/>
          <p:cNvSpPr txBox="1"/>
          <p:nvPr/>
        </p:nvSpPr>
        <p:spPr>
          <a:xfrm>
            <a:off x="6602094" y="3005875"/>
            <a:ext cx="4663441" cy="949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2000">
                <a:solidFill>
                  <a:srgbClr val="FFFFFF"/>
                </a:solidFill>
              </a:defRPr>
            </a:lvl1pPr>
          </a:lstStyle>
          <a:p>
            <a:pPr/>
            <a:r>
              <a:t>Formular las sugerencias para incorporar innovación y tecnología en el plan de estudios.</a:t>
            </a:r>
          </a:p>
        </p:txBody>
      </p:sp>
      <p:sp>
        <p:nvSpPr>
          <p:cNvPr id="100" name="Text 12"/>
          <p:cNvSpPr txBox="1"/>
          <p:nvPr/>
        </p:nvSpPr>
        <p:spPr>
          <a:xfrm>
            <a:off x="6602094" y="4194595"/>
            <a:ext cx="4663441" cy="9497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i="1" sz="2000">
                <a:solidFill>
                  <a:srgbClr val="D5E8F0"/>
                </a:solidFill>
              </a:defRPr>
            </a:lvl1pPr>
          </a:lstStyle>
          <a:p>
            <a:pPr/>
            <a:r>
              <a:t>No es un capítulo aparte: es un hilo que se teje en el modelo y en las mallas, y que nace del propio carisma salesiano.</a:t>
            </a:r>
          </a:p>
        </p:txBody>
      </p:sp>
      <p:sp>
        <p:nvSpPr>
          <p:cNvPr id="101" name="Text 13"/>
          <p:cNvSpPr txBox="1"/>
          <p:nvPr/>
        </p:nvSpPr>
        <p:spPr>
          <a:xfrm>
            <a:off x="502919" y="6480723"/>
            <a:ext cx="722376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AA6B2"/>
                </a:solidFill>
              </a:defRPr>
            </a:lvl1pPr>
          </a:lstStyle>
          <a:p>
            <a:pPr/>
            <a:r>
              <a:t>EICIT · Acompañamiento al PEI de ENSMA</a:t>
            </a:r>
          </a:p>
        </p:txBody>
      </p:sp>
      <p:sp>
        <p:nvSpPr>
          <p:cNvPr id="102" name="Text 14"/>
          <p:cNvSpPr txBox="1"/>
          <p:nvPr/>
        </p:nvSpPr>
        <p:spPr>
          <a:xfrm>
            <a:off x="11384279" y="6480723"/>
            <a:ext cx="36576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9AA6B2"/>
                </a:solidFill>
              </a:defRPr>
            </a:lvl1pPr>
          </a:lstStyle>
          <a:p>
            <a:pPr/>
            <a:r>
              <a:t>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 0"/>
          <p:cNvSpPr txBox="1"/>
          <p:nvPr/>
        </p:nvSpPr>
        <p:spPr>
          <a:xfrm>
            <a:off x="502919" y="398780"/>
            <a:ext cx="10219507" cy="5740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3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Estado de implementación de la Circular 0064 de 2026</a:t>
            </a:r>
          </a:p>
        </p:txBody>
      </p:sp>
      <p:sp>
        <p:nvSpPr>
          <p:cNvPr id="105" name="Shape 1"/>
          <p:cNvSpPr/>
          <p:nvPr/>
        </p:nvSpPr>
        <p:spPr>
          <a:xfrm>
            <a:off x="548640" y="1234439"/>
            <a:ext cx="11064241" cy="914401"/>
          </a:xfrm>
          <a:prstGeom prst="roundRect">
            <a:avLst>
              <a:gd name="adj" fmla="val 10000"/>
            </a:avLst>
          </a:prstGeom>
          <a:solidFill>
            <a:srgbClr val="BF9000"/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>
            <a:lvl1pPr>
              <a:defRPr b="1" sz="1900">
                <a:solidFill>
                  <a:srgbClr val="FFFFFF"/>
                </a:solidFill>
              </a:defRPr>
            </a:lvl1pPr>
          </a:lstStyle>
          <a:p>
            <a:pPr/>
            <a:r>
              <a:t>La Circular enmarca la tarea y la hace viable. Hay que incorporarla.</a:t>
            </a:r>
          </a:p>
        </p:txBody>
      </p:sp>
      <p:sp>
        <p:nvSpPr>
          <p:cNvPr id="106" name="Shape 3"/>
          <p:cNvSpPr/>
          <p:nvPr/>
        </p:nvSpPr>
        <p:spPr>
          <a:xfrm>
            <a:off x="548640" y="2514600"/>
            <a:ext cx="11064241" cy="868681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5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7" name="Shape 4"/>
          <p:cNvSpPr/>
          <p:nvPr/>
        </p:nvSpPr>
        <p:spPr>
          <a:xfrm>
            <a:off x="777240" y="2670048"/>
            <a:ext cx="548641" cy="548641"/>
          </a:xfrm>
          <a:prstGeom prst="ellipse">
            <a:avLst/>
          </a:prstGeom>
          <a:solidFill>
            <a:srgbClr val="2E75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08" name="Text 5"/>
          <p:cNvSpPr txBox="1"/>
          <p:nvPr/>
        </p:nvSpPr>
        <p:spPr>
          <a:xfrm>
            <a:off x="822960" y="2790698"/>
            <a:ext cx="45720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109" name="Text 6"/>
          <p:cNvSpPr txBox="1"/>
          <p:nvPr/>
        </p:nvSpPr>
        <p:spPr>
          <a:xfrm>
            <a:off x="1554480" y="2794071"/>
            <a:ext cx="292608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600">
                <a:solidFill>
                  <a:srgbClr val="1F4E79"/>
                </a:solidFill>
              </a:defRPr>
            </a:lvl1pPr>
          </a:lstStyle>
          <a:p>
            <a:pPr/>
            <a:r>
              <a:t>ENSMA está obligada</a:t>
            </a:r>
          </a:p>
        </p:txBody>
      </p:sp>
      <p:sp>
        <p:nvSpPr>
          <p:cNvPr id="110" name="Text 7"/>
          <p:cNvSpPr txBox="1"/>
          <p:nvPr/>
        </p:nvSpPr>
        <p:spPr>
          <a:xfrm>
            <a:off x="4617720" y="2631774"/>
            <a:ext cx="6766560" cy="625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404040"/>
                </a:solidFill>
              </a:defRPr>
            </a:lvl1pPr>
          </a:lstStyle>
          <a:p>
            <a:pPr/>
            <a:r>
              <a:t>La Circular aplica a toda IE privada de Preescolar, Básica y Media de Soacha. No es opcional.</a:t>
            </a:r>
          </a:p>
        </p:txBody>
      </p:sp>
      <p:sp>
        <p:nvSpPr>
          <p:cNvPr id="111" name="Shape 8"/>
          <p:cNvSpPr/>
          <p:nvPr/>
        </p:nvSpPr>
        <p:spPr>
          <a:xfrm>
            <a:off x="548640" y="3474720"/>
            <a:ext cx="11064241" cy="868681"/>
          </a:xfrm>
          <a:prstGeom prst="roundRect">
            <a:avLst>
              <a:gd name="adj" fmla="val 8421"/>
            </a:avLst>
          </a:prstGeom>
          <a:solidFill>
            <a:srgbClr val="F4F8FC"/>
          </a:solidFill>
          <a:ln w="12700">
            <a:solidFill>
              <a:srgbClr val="D5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2" name="Shape 9"/>
          <p:cNvSpPr/>
          <p:nvPr/>
        </p:nvSpPr>
        <p:spPr>
          <a:xfrm>
            <a:off x="777240" y="3630167"/>
            <a:ext cx="548641" cy="548641"/>
          </a:xfrm>
          <a:prstGeom prst="ellipse">
            <a:avLst/>
          </a:prstGeom>
          <a:solidFill>
            <a:srgbClr val="2E75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3" name="Text 10"/>
          <p:cNvSpPr txBox="1"/>
          <p:nvPr/>
        </p:nvSpPr>
        <p:spPr>
          <a:xfrm>
            <a:off x="822960" y="3750818"/>
            <a:ext cx="45720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114" name="Text 11"/>
          <p:cNvSpPr txBox="1"/>
          <p:nvPr/>
        </p:nvSpPr>
        <p:spPr>
          <a:xfrm>
            <a:off x="1554480" y="3754191"/>
            <a:ext cx="292608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600">
                <a:solidFill>
                  <a:srgbClr val="1F4E79"/>
                </a:solidFill>
              </a:defRPr>
            </a:lvl1pPr>
          </a:lstStyle>
          <a:p>
            <a:pPr/>
            <a:r>
              <a:t>Sin la ruta no es adoptable</a:t>
            </a:r>
          </a:p>
        </p:txBody>
      </p:sp>
      <p:sp>
        <p:nvSpPr>
          <p:cNvPr id="115" name="Text 12"/>
          <p:cNvSpPr txBox="1"/>
          <p:nvPr/>
        </p:nvSpPr>
        <p:spPr>
          <a:xfrm>
            <a:off x="4617720" y="3591894"/>
            <a:ext cx="6766560" cy="625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404040"/>
                </a:solidFill>
              </a:defRPr>
            </a:lvl1pPr>
          </a:lstStyle>
          <a:p>
            <a:pPr/>
            <a:r>
              <a:t>El PEI debe pasar por Consejo Académico, Consejo Directivo y resolución rectoral (Decreto 1075).</a:t>
            </a:r>
          </a:p>
        </p:txBody>
      </p:sp>
      <p:sp>
        <p:nvSpPr>
          <p:cNvPr id="116" name="Shape 13"/>
          <p:cNvSpPr/>
          <p:nvPr/>
        </p:nvSpPr>
        <p:spPr>
          <a:xfrm>
            <a:off x="548640" y="4434840"/>
            <a:ext cx="11064241" cy="868681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5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7" name="Shape 14"/>
          <p:cNvSpPr/>
          <p:nvPr/>
        </p:nvSpPr>
        <p:spPr>
          <a:xfrm>
            <a:off x="777240" y="4590288"/>
            <a:ext cx="548641" cy="548641"/>
          </a:xfrm>
          <a:prstGeom prst="ellipse">
            <a:avLst/>
          </a:prstGeom>
          <a:solidFill>
            <a:srgbClr val="2E75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18" name="Text 15"/>
          <p:cNvSpPr txBox="1"/>
          <p:nvPr/>
        </p:nvSpPr>
        <p:spPr>
          <a:xfrm>
            <a:off x="822960" y="4710938"/>
            <a:ext cx="45720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119" name="Text 16"/>
          <p:cNvSpPr txBox="1"/>
          <p:nvPr/>
        </p:nvSpPr>
        <p:spPr>
          <a:xfrm>
            <a:off x="1554480" y="4714311"/>
            <a:ext cx="292608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600">
                <a:solidFill>
                  <a:srgbClr val="1F4E79"/>
                </a:solidFill>
              </a:defRPr>
            </a:lvl1pPr>
          </a:lstStyle>
          <a:p>
            <a:pPr/>
            <a:r>
              <a:t>EICIT acompaña, ENSMA adopta</a:t>
            </a:r>
          </a:p>
        </p:txBody>
      </p:sp>
      <p:sp>
        <p:nvSpPr>
          <p:cNvPr id="120" name="Text 17"/>
          <p:cNvSpPr txBox="1"/>
          <p:nvPr/>
        </p:nvSpPr>
        <p:spPr>
          <a:xfrm>
            <a:off x="4617720" y="4552014"/>
            <a:ext cx="6766560" cy="625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404040"/>
                </a:solidFill>
              </a:defRPr>
            </a:lvl1pPr>
          </a:lstStyle>
          <a:p>
            <a:pPr/>
            <a:r>
              <a:t>EICIT no 'renueva el PEI'; da asistencia técnica. Esto honra el Compromiso 6 (autonomía).</a:t>
            </a:r>
          </a:p>
        </p:txBody>
      </p:sp>
      <p:sp>
        <p:nvSpPr>
          <p:cNvPr id="121" name="Shape 18"/>
          <p:cNvSpPr/>
          <p:nvPr/>
        </p:nvSpPr>
        <p:spPr>
          <a:xfrm>
            <a:off x="548640" y="5394959"/>
            <a:ext cx="11064241" cy="868681"/>
          </a:xfrm>
          <a:prstGeom prst="roundRect">
            <a:avLst>
              <a:gd name="adj" fmla="val 8421"/>
            </a:avLst>
          </a:prstGeom>
          <a:solidFill>
            <a:srgbClr val="F4F8FC"/>
          </a:solidFill>
          <a:ln w="12700">
            <a:solidFill>
              <a:srgbClr val="D5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Shape 19"/>
          <p:cNvSpPr/>
          <p:nvPr/>
        </p:nvSpPr>
        <p:spPr>
          <a:xfrm>
            <a:off x="777240" y="5550408"/>
            <a:ext cx="548641" cy="548641"/>
          </a:xfrm>
          <a:prstGeom prst="ellipse">
            <a:avLst/>
          </a:prstGeom>
          <a:solidFill>
            <a:srgbClr val="2E75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23" name="Text 20"/>
          <p:cNvSpPr txBox="1"/>
          <p:nvPr/>
        </p:nvSpPr>
        <p:spPr>
          <a:xfrm>
            <a:off x="822960" y="5671058"/>
            <a:ext cx="45720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5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d</a:t>
            </a:r>
          </a:p>
        </p:txBody>
      </p:sp>
      <p:sp>
        <p:nvSpPr>
          <p:cNvPr id="124" name="Text 21"/>
          <p:cNvSpPr txBox="1"/>
          <p:nvPr/>
        </p:nvSpPr>
        <p:spPr>
          <a:xfrm>
            <a:off x="1554480" y="5674431"/>
            <a:ext cx="292608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600">
                <a:solidFill>
                  <a:srgbClr val="1F4E79"/>
                </a:solidFill>
              </a:defRPr>
            </a:lvl1pPr>
          </a:lstStyle>
          <a:p>
            <a:pPr/>
            <a:r>
              <a:t>Nos proporciona insumos</a:t>
            </a:r>
          </a:p>
        </p:txBody>
      </p:sp>
      <p:sp>
        <p:nvSpPr>
          <p:cNvPr id="125" name="Text 22"/>
          <p:cNvSpPr txBox="1"/>
          <p:nvPr/>
        </p:nvSpPr>
        <p:spPr>
          <a:xfrm>
            <a:off x="4617720" y="5512134"/>
            <a:ext cx="6766560" cy="625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404040"/>
                </a:solidFill>
              </a:defRPr>
            </a:lvl1pPr>
          </a:lstStyle>
          <a:p>
            <a:pPr/>
            <a:r>
              <a:t>Referentes 2024–2026, estructura de 5 capítulos, plantilla oficial y ventana 2026–2027.</a:t>
            </a:r>
          </a:p>
        </p:txBody>
      </p:sp>
      <p:sp>
        <p:nvSpPr>
          <p:cNvPr id="126" name="Text 23"/>
          <p:cNvSpPr txBox="1"/>
          <p:nvPr/>
        </p:nvSpPr>
        <p:spPr>
          <a:xfrm>
            <a:off x="502919" y="6480723"/>
            <a:ext cx="722376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AA6B2"/>
                </a:solidFill>
              </a:defRPr>
            </a:lvl1pPr>
          </a:lstStyle>
          <a:p>
            <a:pPr/>
            <a:r>
              <a:t>EICIT · Acompañamiento al PEI de ENSMA</a:t>
            </a:r>
          </a:p>
        </p:txBody>
      </p:sp>
      <p:sp>
        <p:nvSpPr>
          <p:cNvPr id="127" name="Text 24"/>
          <p:cNvSpPr txBox="1"/>
          <p:nvPr/>
        </p:nvSpPr>
        <p:spPr>
          <a:xfrm>
            <a:off x="11384279" y="6480723"/>
            <a:ext cx="36576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9AA6B2"/>
                </a:solidFill>
              </a:defRPr>
            </a:lvl1pPr>
          </a:lstStyle>
          <a:p>
            <a:pPr/>
            <a:r>
              <a:t>3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Shape 0"/>
          <p:cNvSpPr/>
          <p:nvPr/>
        </p:nvSpPr>
        <p:spPr>
          <a:xfrm>
            <a:off x="-1371600" y="4114800"/>
            <a:ext cx="4114800" cy="4114800"/>
          </a:xfrm>
          <a:prstGeom prst="ellipse">
            <a:avLst/>
          </a:prstGeom>
          <a:solidFill>
            <a:srgbClr val="2E75B6">
              <a:alpha val="4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0" name="Text 1"/>
          <p:cNvSpPr txBox="1"/>
          <p:nvPr/>
        </p:nvSpPr>
        <p:spPr>
          <a:xfrm>
            <a:off x="685800" y="881469"/>
            <a:ext cx="9966960" cy="340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285" sz="2000">
                <a:solidFill>
                  <a:srgbClr val="D5E8F0"/>
                </a:solidFill>
              </a:defRPr>
            </a:lvl1pPr>
          </a:lstStyle>
          <a:p>
            <a:pPr/>
            <a:r>
              <a:t>Alcance</a:t>
            </a:r>
          </a:p>
        </p:txBody>
      </p:sp>
      <p:sp>
        <p:nvSpPr>
          <p:cNvPr id="131" name="Text 2"/>
          <p:cNvSpPr txBox="1"/>
          <p:nvPr/>
        </p:nvSpPr>
        <p:spPr>
          <a:xfrm>
            <a:off x="685799" y="1496059"/>
            <a:ext cx="8020158" cy="1031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3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EICIT aporta la Asistencia técnica externa al proceso ya definido por la Circular 0064</a:t>
            </a:r>
          </a:p>
        </p:txBody>
      </p:sp>
      <p:sp>
        <p:nvSpPr>
          <p:cNvPr id="132" name="Shape 3"/>
          <p:cNvSpPr/>
          <p:nvPr/>
        </p:nvSpPr>
        <p:spPr>
          <a:xfrm>
            <a:off x="640080" y="3017520"/>
            <a:ext cx="5212080" cy="2468880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3" name="Text 4"/>
          <p:cNvSpPr txBox="1"/>
          <p:nvPr/>
        </p:nvSpPr>
        <p:spPr>
          <a:xfrm>
            <a:off x="960119" y="3232765"/>
            <a:ext cx="4480561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400">
                <a:solidFill>
                  <a:srgbClr val="2E75B6"/>
                </a:solidFill>
              </a:defRPr>
            </a:lvl1pPr>
          </a:lstStyle>
          <a:p>
            <a:pPr/>
            <a:r>
              <a:t>EICIT</a:t>
            </a:r>
          </a:p>
        </p:txBody>
      </p:sp>
      <p:sp>
        <p:nvSpPr>
          <p:cNvPr id="134" name="Text 5"/>
          <p:cNvSpPr txBox="1"/>
          <p:nvPr/>
        </p:nvSpPr>
        <p:spPr>
          <a:xfrm>
            <a:off x="960119" y="3995509"/>
            <a:ext cx="4572001" cy="1152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spcBef>
                <a:spcPts val="800"/>
              </a:spcBef>
              <a:buSzPct val="100000"/>
              <a:buChar char="•"/>
              <a:defRPr sz="2000">
                <a:solidFill>
                  <a:srgbClr val="404040"/>
                </a:solidFill>
              </a:defRPr>
            </a:pPr>
            <a:r>
              <a:t>Propone, diseña, acompaña</a:t>
            </a:r>
          </a:p>
          <a:p>
            <a:pPr marL="342900" indent="-342900">
              <a:spcBef>
                <a:spcPts val="800"/>
              </a:spcBef>
              <a:buSzPct val="100000"/>
              <a:buChar char="•"/>
              <a:defRPr sz="2000">
                <a:solidFill>
                  <a:srgbClr val="404040"/>
                </a:solidFill>
              </a:defRPr>
            </a:pPr>
            <a:r>
              <a:t>Aporta capacidad técnica y formación</a:t>
            </a:r>
          </a:p>
          <a:p>
            <a:pPr marL="342900" indent="-342900">
              <a:buSzPct val="100000"/>
              <a:buChar char="•"/>
              <a:defRPr sz="2000">
                <a:solidFill>
                  <a:srgbClr val="404040"/>
                </a:solidFill>
              </a:defRPr>
            </a:pPr>
            <a:r>
              <a:t>Apoya el trámite, no lo decide</a:t>
            </a:r>
          </a:p>
        </p:txBody>
      </p:sp>
      <p:sp>
        <p:nvSpPr>
          <p:cNvPr id="135" name="Shape 6"/>
          <p:cNvSpPr/>
          <p:nvPr/>
        </p:nvSpPr>
        <p:spPr>
          <a:xfrm>
            <a:off x="6309359" y="3017520"/>
            <a:ext cx="5212081" cy="2468880"/>
          </a:xfrm>
          <a:prstGeom prst="roundRect">
            <a:avLst>
              <a:gd name="adj" fmla="val 3704"/>
            </a:avLst>
          </a:prstGeom>
          <a:solidFill>
            <a:srgbClr val="BF9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36" name="Text 7"/>
          <p:cNvSpPr txBox="1"/>
          <p:nvPr/>
        </p:nvSpPr>
        <p:spPr>
          <a:xfrm>
            <a:off x="6629400" y="3232765"/>
            <a:ext cx="4480560" cy="3924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ENSMA</a:t>
            </a:r>
          </a:p>
        </p:txBody>
      </p:sp>
      <p:sp>
        <p:nvSpPr>
          <p:cNvPr id="137" name="Text 8"/>
          <p:cNvSpPr txBox="1"/>
          <p:nvPr/>
        </p:nvSpPr>
        <p:spPr>
          <a:xfrm>
            <a:off x="6629400" y="3995509"/>
            <a:ext cx="4572000" cy="1152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spcBef>
                <a:spcPts val="800"/>
              </a:spcBef>
              <a:buSzPct val="100000"/>
              <a:buChar char="•"/>
              <a:defRPr sz="2000">
                <a:solidFill>
                  <a:srgbClr val="FFFFFF"/>
                </a:solidFill>
              </a:defRPr>
            </a:pPr>
            <a:r>
              <a:t>Delibera con sus estamentos</a:t>
            </a:r>
          </a:p>
          <a:p>
            <a:pPr marL="342900" indent="-342900">
              <a:spcBef>
                <a:spcPts val="800"/>
              </a:spcBef>
              <a:buSzPct val="100000"/>
              <a:buChar char="•"/>
              <a:defRPr sz="2000">
                <a:solidFill>
                  <a:srgbClr val="FFFFFF"/>
                </a:solidFill>
              </a:defRPr>
            </a:pPr>
            <a:r>
              <a:t>Decide (Consejo Directivo)</a:t>
            </a:r>
          </a:p>
          <a:p>
            <a:pPr marL="342900" indent="-342900">
              <a:buSzPct val="100000"/>
              <a:buChar char="•"/>
              <a:defRPr sz="2000">
                <a:solidFill>
                  <a:srgbClr val="FFFFFF"/>
                </a:solidFill>
              </a:defRPr>
            </a:pPr>
            <a:r>
              <a:t>Adopta por resolución rectoral</a:t>
            </a:r>
          </a:p>
        </p:txBody>
      </p:sp>
      <p:sp>
        <p:nvSpPr>
          <p:cNvPr id="138" name="Text 9"/>
          <p:cNvSpPr txBox="1"/>
          <p:nvPr/>
        </p:nvSpPr>
        <p:spPr>
          <a:xfrm>
            <a:off x="685799" y="6007057"/>
            <a:ext cx="10718416" cy="3302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i="1" sz="1900">
                <a:solidFill>
                  <a:srgbClr val="D5E8F0"/>
                </a:solidFill>
              </a:defRPr>
            </a:lvl1pPr>
          </a:lstStyle>
          <a:p>
            <a:pPr/>
            <a:r>
              <a:t>Mismo trabajo, posicionamiento que blinda a EICIT y respeta la autonomía salesiana.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 0"/>
          <p:cNvSpPr txBox="1"/>
          <p:nvPr/>
        </p:nvSpPr>
        <p:spPr>
          <a:xfrm>
            <a:off x="502919" y="411480"/>
            <a:ext cx="1088136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Diagnóstico preliminar del PEI actual</a:t>
            </a:r>
          </a:p>
        </p:txBody>
      </p:sp>
      <p:sp>
        <p:nvSpPr>
          <p:cNvPr id="141" name="Text 1"/>
          <p:cNvSpPr txBox="1"/>
          <p:nvPr/>
        </p:nvSpPr>
        <p:spPr>
          <a:xfrm>
            <a:off x="502919" y="951713"/>
            <a:ext cx="10881361" cy="382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i="1" sz="2300">
                <a:solidFill>
                  <a:srgbClr val="BF9000"/>
                </a:solidFill>
              </a:defRPr>
            </a:lvl1pPr>
          </a:lstStyle>
          <a:p>
            <a:pPr/>
            <a:r>
              <a:t>6 hallazgos que hacen que el encargo sea sustancial</a:t>
            </a:r>
          </a:p>
        </p:txBody>
      </p:sp>
      <p:sp>
        <p:nvSpPr>
          <p:cNvPr id="142" name="Shape 2"/>
          <p:cNvSpPr/>
          <p:nvPr/>
        </p:nvSpPr>
        <p:spPr>
          <a:xfrm>
            <a:off x="548640" y="1600200"/>
            <a:ext cx="3566160" cy="2286000"/>
          </a:xfrm>
          <a:prstGeom prst="roundRect">
            <a:avLst>
              <a:gd name="adj" fmla="val 3200"/>
            </a:avLst>
          </a:prstGeom>
          <a:solidFill>
            <a:srgbClr val="F4F8FC"/>
          </a:solidFill>
          <a:ln w="12700">
            <a:solidFill>
              <a:srgbClr val="D5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3" name="Shape 3"/>
          <p:cNvSpPr/>
          <p:nvPr/>
        </p:nvSpPr>
        <p:spPr>
          <a:xfrm>
            <a:off x="777240" y="1828800"/>
            <a:ext cx="1280161" cy="384048"/>
          </a:xfrm>
          <a:prstGeom prst="roundRect">
            <a:avLst>
              <a:gd name="adj" fmla="val 14286"/>
            </a:avLst>
          </a:prstGeom>
          <a:solidFill>
            <a:srgbClr val="1F4E7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4" name="Text 4"/>
          <p:cNvSpPr txBox="1"/>
          <p:nvPr/>
        </p:nvSpPr>
        <p:spPr>
          <a:xfrm>
            <a:off x="822959" y="1854280"/>
            <a:ext cx="1188722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CRÍTICO</a:t>
            </a:r>
          </a:p>
        </p:txBody>
      </p:sp>
      <p:sp>
        <p:nvSpPr>
          <p:cNvPr id="145" name="Text 5"/>
          <p:cNvSpPr txBox="1"/>
          <p:nvPr/>
        </p:nvSpPr>
        <p:spPr>
          <a:xfrm>
            <a:off x="822959" y="2331720"/>
            <a:ext cx="3017522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1F4E79"/>
                </a:solidFill>
              </a:defRPr>
            </a:lvl1pPr>
          </a:lstStyle>
          <a:p>
            <a:pPr/>
            <a:r>
              <a:t>Mallas 'en construcción'</a:t>
            </a:r>
          </a:p>
        </p:txBody>
      </p:sp>
      <p:sp>
        <p:nvSpPr>
          <p:cNvPr id="146" name="Text 6"/>
          <p:cNvSpPr txBox="1"/>
          <p:nvPr/>
        </p:nvSpPr>
        <p:spPr>
          <a:xfrm>
            <a:off x="822959" y="2926079"/>
            <a:ext cx="3017522" cy="917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/>
            <a:r>
              <a:t>El propio PEI dice que los planes de estudio están sin terminar. Es el núcleo exigido.</a:t>
            </a:r>
          </a:p>
        </p:txBody>
      </p:sp>
      <p:sp>
        <p:nvSpPr>
          <p:cNvPr id="147" name="Shape 7"/>
          <p:cNvSpPr/>
          <p:nvPr/>
        </p:nvSpPr>
        <p:spPr>
          <a:xfrm>
            <a:off x="4251959" y="1600200"/>
            <a:ext cx="3566161" cy="2286000"/>
          </a:xfrm>
          <a:prstGeom prst="roundRect">
            <a:avLst>
              <a:gd name="adj" fmla="val 3200"/>
            </a:avLst>
          </a:prstGeom>
          <a:solidFill>
            <a:srgbClr val="F4F8FC"/>
          </a:solidFill>
          <a:ln w="12700">
            <a:solidFill>
              <a:srgbClr val="D5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8" name="Shape 8"/>
          <p:cNvSpPr/>
          <p:nvPr/>
        </p:nvSpPr>
        <p:spPr>
          <a:xfrm>
            <a:off x="4480559" y="1828800"/>
            <a:ext cx="1280161" cy="384048"/>
          </a:xfrm>
          <a:prstGeom prst="roundRect">
            <a:avLst>
              <a:gd name="adj" fmla="val 14286"/>
            </a:avLst>
          </a:prstGeom>
          <a:solidFill>
            <a:srgbClr val="1F4E7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49" name="Text 9"/>
          <p:cNvSpPr txBox="1"/>
          <p:nvPr/>
        </p:nvSpPr>
        <p:spPr>
          <a:xfrm>
            <a:off x="4526279" y="1854280"/>
            <a:ext cx="118872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CRÍTICO</a:t>
            </a:r>
          </a:p>
        </p:txBody>
      </p:sp>
      <p:sp>
        <p:nvSpPr>
          <p:cNvPr id="150" name="Text 10"/>
          <p:cNvSpPr txBox="1"/>
          <p:nvPr/>
        </p:nvSpPr>
        <p:spPr>
          <a:xfrm>
            <a:off x="4526279" y="2331720"/>
            <a:ext cx="301752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1F4E79"/>
                </a:solidFill>
              </a:defRPr>
            </a:lvl1pPr>
          </a:lstStyle>
          <a:p>
            <a:pPr/>
            <a:r>
              <a:t>¿Media académica o técnica?</a:t>
            </a:r>
          </a:p>
        </p:txBody>
      </p:sp>
      <p:sp>
        <p:nvSpPr>
          <p:cNvPr id="151" name="Text 11"/>
          <p:cNvSpPr txBox="1"/>
          <p:nvPr/>
        </p:nvSpPr>
        <p:spPr>
          <a:xfrm>
            <a:off x="4526279" y="2926079"/>
            <a:ext cx="3017521" cy="917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/>
            <a:r>
              <a:t>El documento se contradice. Si es técnica: trámite de modificación de licencia.</a:t>
            </a:r>
          </a:p>
        </p:txBody>
      </p:sp>
      <p:sp>
        <p:nvSpPr>
          <p:cNvPr id="152" name="Shape 12"/>
          <p:cNvSpPr/>
          <p:nvPr/>
        </p:nvSpPr>
        <p:spPr>
          <a:xfrm>
            <a:off x="7955280" y="1600200"/>
            <a:ext cx="3566161" cy="2286000"/>
          </a:xfrm>
          <a:prstGeom prst="roundRect">
            <a:avLst>
              <a:gd name="adj" fmla="val 3200"/>
            </a:avLst>
          </a:prstGeom>
          <a:solidFill>
            <a:srgbClr val="F4F8FC"/>
          </a:solidFill>
          <a:ln w="12700">
            <a:solidFill>
              <a:srgbClr val="D5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3" name="Shape 13"/>
          <p:cNvSpPr/>
          <p:nvPr/>
        </p:nvSpPr>
        <p:spPr>
          <a:xfrm>
            <a:off x="8183880" y="1828800"/>
            <a:ext cx="1280161" cy="384048"/>
          </a:xfrm>
          <a:prstGeom prst="roundRect">
            <a:avLst>
              <a:gd name="adj" fmla="val 14286"/>
            </a:avLst>
          </a:prstGeom>
          <a:solidFill>
            <a:srgbClr val="2E75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4" name="Text 14"/>
          <p:cNvSpPr txBox="1"/>
          <p:nvPr/>
        </p:nvSpPr>
        <p:spPr>
          <a:xfrm>
            <a:off x="8229600" y="1854280"/>
            <a:ext cx="118872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ALTO</a:t>
            </a:r>
          </a:p>
        </p:txBody>
      </p:sp>
      <p:sp>
        <p:nvSpPr>
          <p:cNvPr id="155" name="Text 15"/>
          <p:cNvSpPr txBox="1"/>
          <p:nvPr/>
        </p:nvSpPr>
        <p:spPr>
          <a:xfrm>
            <a:off x="8229600" y="2331720"/>
            <a:ext cx="301752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1F4E79"/>
                </a:solidFill>
              </a:defRPr>
            </a:lvl1pPr>
          </a:lstStyle>
          <a:p>
            <a:pPr/>
            <a:r>
              <a:t>Énfasis no operacionalizado</a:t>
            </a:r>
          </a:p>
        </p:txBody>
      </p:sp>
      <p:sp>
        <p:nvSpPr>
          <p:cNvPr id="156" name="Text 16"/>
          <p:cNvSpPr txBox="1"/>
          <p:nvPr/>
        </p:nvSpPr>
        <p:spPr>
          <a:xfrm>
            <a:off x="8229600" y="2926079"/>
            <a:ext cx="3017521" cy="917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/>
            <a:r>
              <a:t>IA y software se enuncian, pero no hay línea curricular ni horas ni progresión.</a:t>
            </a:r>
          </a:p>
        </p:txBody>
      </p:sp>
      <p:sp>
        <p:nvSpPr>
          <p:cNvPr id="157" name="Shape 17"/>
          <p:cNvSpPr/>
          <p:nvPr/>
        </p:nvSpPr>
        <p:spPr>
          <a:xfrm>
            <a:off x="548640" y="4023359"/>
            <a:ext cx="3566160" cy="2286001"/>
          </a:xfrm>
          <a:prstGeom prst="roundRect">
            <a:avLst>
              <a:gd name="adj" fmla="val 3200"/>
            </a:avLst>
          </a:prstGeom>
          <a:solidFill>
            <a:srgbClr val="F4F8FC"/>
          </a:solidFill>
          <a:ln w="12700">
            <a:solidFill>
              <a:srgbClr val="D5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58" name="Shape 18"/>
          <p:cNvSpPr/>
          <p:nvPr/>
        </p:nvSpPr>
        <p:spPr>
          <a:xfrm>
            <a:off x="777240" y="4251959"/>
            <a:ext cx="1280161" cy="384049"/>
          </a:xfrm>
          <a:prstGeom prst="roundRect">
            <a:avLst>
              <a:gd name="adj" fmla="val 14286"/>
            </a:avLst>
          </a:prstGeom>
          <a:solidFill>
            <a:srgbClr val="2E75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59" name="Text 19"/>
          <p:cNvSpPr txBox="1"/>
          <p:nvPr/>
        </p:nvSpPr>
        <p:spPr>
          <a:xfrm>
            <a:off x="822959" y="4277440"/>
            <a:ext cx="1188722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ALTO</a:t>
            </a:r>
          </a:p>
        </p:txBody>
      </p:sp>
      <p:sp>
        <p:nvSpPr>
          <p:cNvPr id="160" name="Text 20"/>
          <p:cNvSpPr txBox="1"/>
          <p:nvPr/>
        </p:nvSpPr>
        <p:spPr>
          <a:xfrm>
            <a:off x="822959" y="4754879"/>
            <a:ext cx="3017522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1F4E79"/>
                </a:solidFill>
              </a:defRPr>
            </a:lvl1pPr>
          </a:lstStyle>
          <a:p>
            <a:pPr/>
            <a:r>
              <a:t>Referentes 2024–2026</a:t>
            </a:r>
          </a:p>
        </p:txBody>
      </p:sp>
      <p:sp>
        <p:nvSpPr>
          <p:cNvPr id="161" name="Text 21"/>
          <p:cNvSpPr txBox="1"/>
          <p:nvPr/>
        </p:nvSpPr>
        <p:spPr>
          <a:xfrm>
            <a:off x="822959" y="5349240"/>
            <a:ext cx="3017522" cy="917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/>
            <a:r>
              <a:t>Faltan leyes de socioemocional, entornos digitales, IA, gestión del riesgo.</a:t>
            </a:r>
          </a:p>
        </p:txBody>
      </p:sp>
      <p:sp>
        <p:nvSpPr>
          <p:cNvPr id="162" name="Shape 22"/>
          <p:cNvSpPr/>
          <p:nvPr/>
        </p:nvSpPr>
        <p:spPr>
          <a:xfrm>
            <a:off x="4251959" y="4023359"/>
            <a:ext cx="3566161" cy="2286001"/>
          </a:xfrm>
          <a:prstGeom prst="roundRect">
            <a:avLst>
              <a:gd name="adj" fmla="val 3200"/>
            </a:avLst>
          </a:prstGeom>
          <a:solidFill>
            <a:srgbClr val="F4F8FC"/>
          </a:solidFill>
          <a:ln w="12700">
            <a:solidFill>
              <a:srgbClr val="D5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3" name="Shape 23"/>
          <p:cNvSpPr/>
          <p:nvPr/>
        </p:nvSpPr>
        <p:spPr>
          <a:xfrm>
            <a:off x="4480559" y="4251959"/>
            <a:ext cx="1280161" cy="384049"/>
          </a:xfrm>
          <a:prstGeom prst="roundRect">
            <a:avLst>
              <a:gd name="adj" fmla="val 14286"/>
            </a:avLst>
          </a:prstGeom>
          <a:solidFill>
            <a:srgbClr val="BF9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4" name="Text 24"/>
          <p:cNvSpPr txBox="1"/>
          <p:nvPr/>
        </p:nvSpPr>
        <p:spPr>
          <a:xfrm>
            <a:off x="4526279" y="4277440"/>
            <a:ext cx="118872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MEDIO</a:t>
            </a:r>
          </a:p>
        </p:txBody>
      </p:sp>
      <p:sp>
        <p:nvSpPr>
          <p:cNvPr id="165" name="Text 25"/>
          <p:cNvSpPr txBox="1"/>
          <p:nvPr/>
        </p:nvSpPr>
        <p:spPr>
          <a:xfrm>
            <a:off x="4526279" y="4754879"/>
            <a:ext cx="3017521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1F4E79"/>
                </a:solidFill>
              </a:defRPr>
            </a:lvl1pPr>
          </a:lstStyle>
          <a:p>
            <a:pPr/>
            <a:r>
              <a:t>Ajustes de forma</a:t>
            </a:r>
          </a:p>
        </p:txBody>
      </p:sp>
      <p:sp>
        <p:nvSpPr>
          <p:cNvPr id="166" name="Text 26"/>
          <p:cNvSpPr txBox="1"/>
          <p:nvPr/>
        </p:nvSpPr>
        <p:spPr>
          <a:xfrm>
            <a:off x="4526279" y="5349240"/>
            <a:ext cx="3017521" cy="917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/>
            <a:r>
              <a:t>≤50 páginas, hoja oficio, anexos a Drive, numeración con saltos y duplicados.</a:t>
            </a:r>
          </a:p>
        </p:txBody>
      </p:sp>
      <p:sp>
        <p:nvSpPr>
          <p:cNvPr id="167" name="Shape 27"/>
          <p:cNvSpPr/>
          <p:nvPr/>
        </p:nvSpPr>
        <p:spPr>
          <a:xfrm>
            <a:off x="7955280" y="4023359"/>
            <a:ext cx="3566161" cy="2286001"/>
          </a:xfrm>
          <a:prstGeom prst="roundRect">
            <a:avLst>
              <a:gd name="adj" fmla="val 3200"/>
            </a:avLst>
          </a:prstGeom>
          <a:solidFill>
            <a:srgbClr val="F4F8FC"/>
          </a:solidFill>
          <a:ln w="12700">
            <a:solidFill>
              <a:srgbClr val="D5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68" name="Shape 28"/>
          <p:cNvSpPr/>
          <p:nvPr/>
        </p:nvSpPr>
        <p:spPr>
          <a:xfrm>
            <a:off x="8183880" y="4251959"/>
            <a:ext cx="1280161" cy="384049"/>
          </a:xfrm>
          <a:prstGeom prst="roundRect">
            <a:avLst>
              <a:gd name="adj" fmla="val 14286"/>
            </a:avLst>
          </a:prstGeom>
          <a:solidFill>
            <a:srgbClr val="BF9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169" name="Text 29"/>
          <p:cNvSpPr txBox="1"/>
          <p:nvPr/>
        </p:nvSpPr>
        <p:spPr>
          <a:xfrm>
            <a:off x="8229600" y="4277440"/>
            <a:ext cx="118872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>
                <a:solidFill>
                  <a:srgbClr val="FFFFFF"/>
                </a:solidFill>
              </a:defRPr>
            </a:lvl1pPr>
          </a:lstStyle>
          <a:p>
            <a:pPr/>
            <a:r>
              <a:t>MEDIO</a:t>
            </a:r>
          </a:p>
        </p:txBody>
      </p:sp>
      <p:sp>
        <p:nvSpPr>
          <p:cNvPr id="170" name="Text 30"/>
          <p:cNvSpPr txBox="1"/>
          <p:nvPr/>
        </p:nvSpPr>
        <p:spPr>
          <a:xfrm>
            <a:off x="8229600" y="4754879"/>
            <a:ext cx="3017521" cy="333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b="1">
                <a:solidFill>
                  <a:srgbClr val="1F4E79"/>
                </a:solidFill>
              </a:defRPr>
            </a:lvl1pPr>
          </a:lstStyle>
          <a:p>
            <a:pPr/>
            <a:r>
              <a:t>EICIT ya figura en el PEI</a:t>
            </a:r>
          </a:p>
        </p:txBody>
      </p:sp>
      <p:sp>
        <p:nvSpPr>
          <p:cNvPr id="171" name="Text 31"/>
          <p:cNvSpPr txBox="1"/>
          <p:nvPr/>
        </p:nvSpPr>
        <p:spPr>
          <a:xfrm>
            <a:off x="8229600" y="5349240"/>
            <a:ext cx="3017521" cy="917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/>
            <a:r>
              <a:t>Ubicarlo en 'Servicios complementarios' como comodato, sin sugerir cobros.</a:t>
            </a:r>
          </a:p>
        </p:txBody>
      </p:sp>
      <p:sp>
        <p:nvSpPr>
          <p:cNvPr id="172" name="Text 32"/>
          <p:cNvSpPr txBox="1"/>
          <p:nvPr/>
        </p:nvSpPr>
        <p:spPr>
          <a:xfrm>
            <a:off x="502919" y="6480723"/>
            <a:ext cx="722376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AA6B2"/>
                </a:solidFill>
              </a:defRPr>
            </a:lvl1pPr>
          </a:lstStyle>
          <a:p>
            <a:pPr/>
            <a:r>
              <a:t>EICIT · Acompañamiento al PEI de ENSMA</a:t>
            </a:r>
          </a:p>
        </p:txBody>
      </p:sp>
      <p:sp>
        <p:nvSpPr>
          <p:cNvPr id="173" name="Text 33"/>
          <p:cNvSpPr txBox="1"/>
          <p:nvPr/>
        </p:nvSpPr>
        <p:spPr>
          <a:xfrm>
            <a:off x="11384279" y="6417136"/>
            <a:ext cx="36576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>
                <a:solidFill>
                  <a:srgbClr val="9AA6B2"/>
                </a:solidFill>
              </a:defRPr>
            </a:lvl1pPr>
          </a:lstStyle>
          <a:p>
            <a:pPr/>
            <a:r>
              <a:t>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Text 0"/>
          <p:cNvSpPr txBox="1"/>
          <p:nvPr/>
        </p:nvSpPr>
        <p:spPr>
          <a:xfrm>
            <a:off x="502919" y="411480"/>
            <a:ext cx="1088136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El plan de trabajo: 9 fases</a:t>
            </a:r>
          </a:p>
        </p:txBody>
      </p:sp>
      <p:sp>
        <p:nvSpPr>
          <p:cNvPr id="178" name="Text 1"/>
          <p:cNvSpPr txBox="1"/>
          <p:nvPr/>
        </p:nvSpPr>
        <p:spPr>
          <a:xfrm>
            <a:off x="502919" y="951713"/>
            <a:ext cx="10881361" cy="382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2300">
                <a:solidFill>
                  <a:srgbClr val="BF9000"/>
                </a:solidFill>
              </a:defRPr>
            </a:lvl1pPr>
          </a:lstStyle>
          <a:p>
            <a:pPr/>
            <a:r>
              <a:t>Cada fase corresponde a un paso de la ruta oficial de la Circular</a:t>
            </a:r>
          </a:p>
        </p:txBody>
      </p:sp>
      <p:sp>
        <p:nvSpPr>
          <p:cNvPr id="179" name="Shape 2"/>
          <p:cNvSpPr/>
          <p:nvPr/>
        </p:nvSpPr>
        <p:spPr>
          <a:xfrm>
            <a:off x="548640" y="182880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4F8FC"/>
          </a:solidFill>
          <a:ln w="12700">
            <a:solidFill>
              <a:srgbClr val="D5E8F0"/>
            </a:solidFill>
          </a:ln>
        </p:spPr>
        <p:txBody>
          <a:bodyPr lIns="45719" rIns="45719"/>
          <a:lstStyle/>
          <a:p>
            <a:pPr>
              <a:defRPr sz="2200"/>
            </a:pPr>
          </a:p>
        </p:txBody>
      </p:sp>
      <p:sp>
        <p:nvSpPr>
          <p:cNvPr id="180" name="Shape 3"/>
          <p:cNvSpPr/>
          <p:nvPr/>
        </p:nvSpPr>
        <p:spPr>
          <a:xfrm>
            <a:off x="731519" y="2167127"/>
            <a:ext cx="566929" cy="566929"/>
          </a:xfrm>
          <a:prstGeom prst="ellipse">
            <a:avLst/>
          </a:prstGeom>
          <a:solidFill>
            <a:srgbClr val="2E75B6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200"/>
            </a:pPr>
          </a:p>
        </p:txBody>
      </p:sp>
      <p:sp>
        <p:nvSpPr>
          <p:cNvPr id="181" name="Text 4"/>
          <p:cNvSpPr txBox="1"/>
          <p:nvPr/>
        </p:nvSpPr>
        <p:spPr>
          <a:xfrm>
            <a:off x="777239" y="2239772"/>
            <a:ext cx="475489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0</a:t>
            </a:r>
          </a:p>
        </p:txBody>
      </p:sp>
      <p:sp>
        <p:nvSpPr>
          <p:cNvPr id="182" name="Text 5"/>
          <p:cNvSpPr txBox="1"/>
          <p:nvPr/>
        </p:nvSpPr>
        <p:spPr>
          <a:xfrm>
            <a:off x="1508759" y="2075532"/>
            <a:ext cx="2377442" cy="740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200">
                <a:solidFill>
                  <a:srgbClr val="1F4E79"/>
                </a:solidFill>
              </a:defRPr>
            </a:lvl1pPr>
          </a:lstStyle>
          <a:p>
            <a:pPr/>
            <a:r>
              <a:t>Alistamiento y gobernanza</a:t>
            </a:r>
          </a:p>
        </p:txBody>
      </p:sp>
      <p:sp>
        <p:nvSpPr>
          <p:cNvPr id="183" name="Shape 6"/>
          <p:cNvSpPr/>
          <p:nvPr/>
        </p:nvSpPr>
        <p:spPr>
          <a:xfrm>
            <a:off x="4233671" y="1828800"/>
            <a:ext cx="3566161" cy="1234440"/>
          </a:xfrm>
          <a:prstGeom prst="roundRect">
            <a:avLst>
              <a:gd name="adj" fmla="val 5926"/>
            </a:avLst>
          </a:prstGeom>
          <a:solidFill>
            <a:srgbClr val="F4F8FC"/>
          </a:solidFill>
          <a:ln w="12700">
            <a:solidFill>
              <a:srgbClr val="D5E8F0"/>
            </a:solidFill>
          </a:ln>
        </p:spPr>
        <p:txBody>
          <a:bodyPr lIns="45719" rIns="45719"/>
          <a:lstStyle/>
          <a:p>
            <a:pPr>
              <a:defRPr sz="2200"/>
            </a:pPr>
          </a:p>
        </p:txBody>
      </p:sp>
      <p:sp>
        <p:nvSpPr>
          <p:cNvPr id="184" name="Shape 7"/>
          <p:cNvSpPr/>
          <p:nvPr/>
        </p:nvSpPr>
        <p:spPr>
          <a:xfrm>
            <a:off x="4416552" y="2167127"/>
            <a:ext cx="566929" cy="566929"/>
          </a:xfrm>
          <a:prstGeom prst="ellipse">
            <a:avLst/>
          </a:prstGeom>
          <a:solidFill>
            <a:srgbClr val="2E75B6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200"/>
            </a:pPr>
          </a:p>
        </p:txBody>
      </p:sp>
      <p:sp>
        <p:nvSpPr>
          <p:cNvPr id="185" name="Text 8"/>
          <p:cNvSpPr txBox="1"/>
          <p:nvPr/>
        </p:nvSpPr>
        <p:spPr>
          <a:xfrm>
            <a:off x="4462272" y="2239772"/>
            <a:ext cx="475489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86" name="Text 9"/>
          <p:cNvSpPr txBox="1"/>
          <p:nvPr/>
        </p:nvSpPr>
        <p:spPr>
          <a:xfrm>
            <a:off x="5193791" y="2075532"/>
            <a:ext cx="2377442" cy="740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200">
                <a:solidFill>
                  <a:srgbClr val="1F4E79"/>
                </a:solidFill>
              </a:defRPr>
            </a:lvl1pPr>
          </a:lstStyle>
          <a:p>
            <a:pPr/>
            <a:r>
              <a:t>Diagnóstico integral</a:t>
            </a:r>
          </a:p>
        </p:txBody>
      </p:sp>
      <p:sp>
        <p:nvSpPr>
          <p:cNvPr id="187" name="Shape 10"/>
          <p:cNvSpPr/>
          <p:nvPr/>
        </p:nvSpPr>
        <p:spPr>
          <a:xfrm>
            <a:off x="7918704" y="1828800"/>
            <a:ext cx="3566161" cy="1234440"/>
          </a:xfrm>
          <a:prstGeom prst="roundRect">
            <a:avLst>
              <a:gd name="adj" fmla="val 5926"/>
            </a:avLst>
          </a:prstGeom>
          <a:solidFill>
            <a:srgbClr val="F4F8FC"/>
          </a:solidFill>
          <a:ln w="12700">
            <a:solidFill>
              <a:srgbClr val="D5E8F0"/>
            </a:solidFill>
          </a:ln>
        </p:spPr>
        <p:txBody>
          <a:bodyPr lIns="45719" rIns="45719"/>
          <a:lstStyle/>
          <a:p>
            <a:pPr>
              <a:defRPr sz="2200"/>
            </a:pPr>
          </a:p>
        </p:txBody>
      </p:sp>
      <p:sp>
        <p:nvSpPr>
          <p:cNvPr id="188" name="Shape 11"/>
          <p:cNvSpPr/>
          <p:nvPr/>
        </p:nvSpPr>
        <p:spPr>
          <a:xfrm>
            <a:off x="8101583" y="2167127"/>
            <a:ext cx="566929" cy="566929"/>
          </a:xfrm>
          <a:prstGeom prst="ellipse">
            <a:avLst/>
          </a:prstGeom>
          <a:solidFill>
            <a:srgbClr val="2E75B6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200"/>
            </a:pPr>
          </a:p>
        </p:txBody>
      </p:sp>
      <p:sp>
        <p:nvSpPr>
          <p:cNvPr id="189" name="Text 12"/>
          <p:cNvSpPr txBox="1"/>
          <p:nvPr/>
        </p:nvSpPr>
        <p:spPr>
          <a:xfrm>
            <a:off x="8147303" y="2239772"/>
            <a:ext cx="475489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90" name="Text 13"/>
          <p:cNvSpPr txBox="1"/>
          <p:nvPr/>
        </p:nvSpPr>
        <p:spPr>
          <a:xfrm>
            <a:off x="8878823" y="2075532"/>
            <a:ext cx="2377442" cy="740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200">
                <a:solidFill>
                  <a:srgbClr val="1F4E79"/>
                </a:solidFill>
              </a:defRPr>
            </a:lvl1pPr>
          </a:lstStyle>
          <a:p>
            <a:pPr/>
            <a:r>
              <a:t>Estudio de referentes</a:t>
            </a:r>
          </a:p>
        </p:txBody>
      </p:sp>
      <p:sp>
        <p:nvSpPr>
          <p:cNvPr id="191" name="Shape 14"/>
          <p:cNvSpPr/>
          <p:nvPr/>
        </p:nvSpPr>
        <p:spPr>
          <a:xfrm>
            <a:off x="548640" y="3182111"/>
            <a:ext cx="3566160" cy="1234441"/>
          </a:xfrm>
          <a:prstGeom prst="roundRect">
            <a:avLst>
              <a:gd name="adj" fmla="val 5926"/>
            </a:avLst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lIns="45719" rIns="45719"/>
          <a:lstStyle/>
          <a:p>
            <a:pPr>
              <a:defRPr sz="2200"/>
            </a:pPr>
          </a:p>
        </p:txBody>
      </p:sp>
      <p:sp>
        <p:nvSpPr>
          <p:cNvPr id="192" name="Shape 15"/>
          <p:cNvSpPr/>
          <p:nvPr/>
        </p:nvSpPr>
        <p:spPr>
          <a:xfrm>
            <a:off x="731519" y="3520440"/>
            <a:ext cx="566929" cy="566929"/>
          </a:xfrm>
          <a:prstGeom prst="ellipse">
            <a:avLst/>
          </a:prstGeom>
          <a:solidFill>
            <a:srgbClr val="BF9000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200"/>
            </a:pPr>
          </a:p>
        </p:txBody>
      </p:sp>
      <p:sp>
        <p:nvSpPr>
          <p:cNvPr id="193" name="Text 16"/>
          <p:cNvSpPr txBox="1"/>
          <p:nvPr/>
        </p:nvSpPr>
        <p:spPr>
          <a:xfrm>
            <a:off x="777239" y="3593084"/>
            <a:ext cx="475489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solidFill>
                  <a:srgbClr val="1F4E79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94" name="Text 17"/>
          <p:cNvSpPr txBox="1"/>
          <p:nvPr/>
        </p:nvSpPr>
        <p:spPr>
          <a:xfrm>
            <a:off x="1508759" y="3428844"/>
            <a:ext cx="2377442" cy="740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Modelo pedagógico</a:t>
            </a:r>
          </a:p>
        </p:txBody>
      </p:sp>
      <p:sp>
        <p:nvSpPr>
          <p:cNvPr id="195" name="Shape 18"/>
          <p:cNvSpPr/>
          <p:nvPr/>
        </p:nvSpPr>
        <p:spPr>
          <a:xfrm>
            <a:off x="4233671" y="3182111"/>
            <a:ext cx="3566161" cy="1234441"/>
          </a:xfrm>
          <a:prstGeom prst="roundRect">
            <a:avLst>
              <a:gd name="adj" fmla="val 5926"/>
            </a:avLst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lIns="45719" rIns="45719"/>
          <a:lstStyle/>
          <a:p>
            <a:pPr>
              <a:defRPr sz="2200"/>
            </a:pPr>
          </a:p>
        </p:txBody>
      </p:sp>
      <p:sp>
        <p:nvSpPr>
          <p:cNvPr id="196" name="Shape 19"/>
          <p:cNvSpPr/>
          <p:nvPr/>
        </p:nvSpPr>
        <p:spPr>
          <a:xfrm>
            <a:off x="4416552" y="3520440"/>
            <a:ext cx="566929" cy="566929"/>
          </a:xfrm>
          <a:prstGeom prst="ellipse">
            <a:avLst/>
          </a:prstGeom>
          <a:solidFill>
            <a:srgbClr val="BF9000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200"/>
            </a:pPr>
          </a:p>
        </p:txBody>
      </p:sp>
      <p:sp>
        <p:nvSpPr>
          <p:cNvPr id="197" name="Text 20"/>
          <p:cNvSpPr txBox="1"/>
          <p:nvPr/>
        </p:nvSpPr>
        <p:spPr>
          <a:xfrm>
            <a:off x="4462272" y="3593084"/>
            <a:ext cx="475489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solidFill>
                  <a:srgbClr val="1F4E79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98" name="Text 21"/>
          <p:cNvSpPr txBox="1"/>
          <p:nvPr/>
        </p:nvSpPr>
        <p:spPr>
          <a:xfrm>
            <a:off x="5193791" y="3428844"/>
            <a:ext cx="2377442" cy="740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Rediseño curricular y mallas</a:t>
            </a:r>
          </a:p>
        </p:txBody>
      </p:sp>
      <p:sp>
        <p:nvSpPr>
          <p:cNvPr id="199" name="Shape 22"/>
          <p:cNvSpPr/>
          <p:nvPr/>
        </p:nvSpPr>
        <p:spPr>
          <a:xfrm>
            <a:off x="7918704" y="3182111"/>
            <a:ext cx="3566161" cy="1234441"/>
          </a:xfrm>
          <a:prstGeom prst="roundRect">
            <a:avLst>
              <a:gd name="adj" fmla="val 5926"/>
            </a:avLst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lIns="45719" rIns="45719"/>
          <a:lstStyle/>
          <a:p>
            <a:pPr>
              <a:defRPr sz="2200"/>
            </a:pPr>
          </a:p>
        </p:txBody>
      </p:sp>
      <p:sp>
        <p:nvSpPr>
          <p:cNvPr id="200" name="Shape 23"/>
          <p:cNvSpPr/>
          <p:nvPr/>
        </p:nvSpPr>
        <p:spPr>
          <a:xfrm>
            <a:off x="8101583" y="3520440"/>
            <a:ext cx="566929" cy="566929"/>
          </a:xfrm>
          <a:prstGeom prst="ellipse">
            <a:avLst/>
          </a:prstGeom>
          <a:solidFill>
            <a:srgbClr val="BF9000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200"/>
            </a:pPr>
          </a:p>
        </p:txBody>
      </p:sp>
      <p:sp>
        <p:nvSpPr>
          <p:cNvPr id="201" name="Text 24"/>
          <p:cNvSpPr txBox="1"/>
          <p:nvPr/>
        </p:nvSpPr>
        <p:spPr>
          <a:xfrm>
            <a:off x="8147303" y="3593084"/>
            <a:ext cx="475489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solidFill>
                  <a:srgbClr val="1F4E79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02" name="Text 25"/>
          <p:cNvSpPr txBox="1"/>
          <p:nvPr/>
        </p:nvSpPr>
        <p:spPr>
          <a:xfrm>
            <a:off x="8878823" y="3428844"/>
            <a:ext cx="2377442" cy="740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Sistematización en el PEI</a:t>
            </a:r>
          </a:p>
        </p:txBody>
      </p:sp>
      <p:sp>
        <p:nvSpPr>
          <p:cNvPr id="203" name="Shape 26"/>
          <p:cNvSpPr/>
          <p:nvPr/>
        </p:nvSpPr>
        <p:spPr>
          <a:xfrm>
            <a:off x="548640" y="4535423"/>
            <a:ext cx="3566160" cy="1234441"/>
          </a:xfrm>
          <a:prstGeom prst="roundRect">
            <a:avLst>
              <a:gd name="adj" fmla="val 5926"/>
            </a:avLst>
          </a:prstGeom>
          <a:solidFill>
            <a:srgbClr val="1F4E79"/>
          </a:solidFill>
          <a:ln w="12700">
            <a:solidFill>
              <a:srgbClr val="1F4E79"/>
            </a:solidFill>
          </a:ln>
        </p:spPr>
        <p:txBody>
          <a:bodyPr lIns="45719" rIns="45719"/>
          <a:lstStyle/>
          <a:p>
            <a:pPr>
              <a:defRPr sz="2200"/>
            </a:pPr>
          </a:p>
        </p:txBody>
      </p:sp>
      <p:sp>
        <p:nvSpPr>
          <p:cNvPr id="204" name="Shape 27"/>
          <p:cNvSpPr/>
          <p:nvPr/>
        </p:nvSpPr>
        <p:spPr>
          <a:xfrm>
            <a:off x="731519" y="4873752"/>
            <a:ext cx="566929" cy="566929"/>
          </a:xfrm>
          <a:prstGeom prst="ellipse">
            <a:avLst/>
          </a:prstGeom>
          <a:solidFill>
            <a:srgbClr val="BF9000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200"/>
            </a:pPr>
          </a:p>
        </p:txBody>
      </p:sp>
      <p:sp>
        <p:nvSpPr>
          <p:cNvPr id="205" name="Text 28"/>
          <p:cNvSpPr txBox="1"/>
          <p:nvPr/>
        </p:nvSpPr>
        <p:spPr>
          <a:xfrm>
            <a:off x="777239" y="4946396"/>
            <a:ext cx="475489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solidFill>
                  <a:srgbClr val="1F4E79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06" name="Text 29"/>
          <p:cNvSpPr txBox="1"/>
          <p:nvPr/>
        </p:nvSpPr>
        <p:spPr>
          <a:xfrm>
            <a:off x="1508759" y="4959956"/>
            <a:ext cx="2377442" cy="385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200">
                <a:solidFill>
                  <a:srgbClr val="FFFFFF"/>
                </a:solidFill>
              </a:defRPr>
            </a:lvl1pPr>
          </a:lstStyle>
          <a:p>
            <a:pPr/>
            <a:r>
              <a:t>Diplomado en IA</a:t>
            </a:r>
          </a:p>
        </p:txBody>
      </p:sp>
      <p:sp>
        <p:nvSpPr>
          <p:cNvPr id="207" name="Shape 30"/>
          <p:cNvSpPr/>
          <p:nvPr/>
        </p:nvSpPr>
        <p:spPr>
          <a:xfrm>
            <a:off x="4233671" y="4535423"/>
            <a:ext cx="3566161" cy="1234441"/>
          </a:xfrm>
          <a:prstGeom prst="roundRect">
            <a:avLst>
              <a:gd name="adj" fmla="val 5926"/>
            </a:avLst>
          </a:prstGeom>
          <a:solidFill>
            <a:srgbClr val="F4F8FC"/>
          </a:solidFill>
          <a:ln w="12700">
            <a:solidFill>
              <a:srgbClr val="D5E8F0"/>
            </a:solidFill>
          </a:ln>
        </p:spPr>
        <p:txBody>
          <a:bodyPr lIns="45719" rIns="45719"/>
          <a:lstStyle/>
          <a:p>
            <a:pPr>
              <a:defRPr sz="2200"/>
            </a:pPr>
          </a:p>
        </p:txBody>
      </p:sp>
      <p:sp>
        <p:nvSpPr>
          <p:cNvPr id="208" name="Shape 31"/>
          <p:cNvSpPr/>
          <p:nvPr/>
        </p:nvSpPr>
        <p:spPr>
          <a:xfrm>
            <a:off x="4416552" y="4873752"/>
            <a:ext cx="566929" cy="566929"/>
          </a:xfrm>
          <a:prstGeom prst="ellipse">
            <a:avLst/>
          </a:prstGeom>
          <a:solidFill>
            <a:srgbClr val="2E75B6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200"/>
            </a:pPr>
          </a:p>
        </p:txBody>
      </p:sp>
      <p:sp>
        <p:nvSpPr>
          <p:cNvPr id="209" name="Text 32"/>
          <p:cNvSpPr txBox="1"/>
          <p:nvPr/>
        </p:nvSpPr>
        <p:spPr>
          <a:xfrm>
            <a:off x="4462272" y="4946396"/>
            <a:ext cx="475489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210" name="Text 33"/>
          <p:cNvSpPr txBox="1"/>
          <p:nvPr/>
        </p:nvSpPr>
        <p:spPr>
          <a:xfrm>
            <a:off x="5193791" y="4782156"/>
            <a:ext cx="2377442" cy="740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200">
                <a:solidFill>
                  <a:srgbClr val="1F4E79"/>
                </a:solidFill>
              </a:defRPr>
            </a:lvl1pPr>
          </a:lstStyle>
          <a:p>
            <a:pPr/>
            <a:r>
              <a:t>Deliberación y adopción</a:t>
            </a:r>
          </a:p>
        </p:txBody>
      </p:sp>
      <p:sp>
        <p:nvSpPr>
          <p:cNvPr id="211" name="Shape 34"/>
          <p:cNvSpPr/>
          <p:nvPr/>
        </p:nvSpPr>
        <p:spPr>
          <a:xfrm>
            <a:off x="7918704" y="4535423"/>
            <a:ext cx="3566161" cy="1234441"/>
          </a:xfrm>
          <a:prstGeom prst="roundRect">
            <a:avLst>
              <a:gd name="adj" fmla="val 5926"/>
            </a:avLst>
          </a:prstGeom>
          <a:solidFill>
            <a:srgbClr val="F4F8FC"/>
          </a:solidFill>
          <a:ln w="12700">
            <a:solidFill>
              <a:srgbClr val="D5E8F0"/>
            </a:solidFill>
          </a:ln>
        </p:spPr>
        <p:txBody>
          <a:bodyPr lIns="45719" rIns="45719"/>
          <a:lstStyle/>
          <a:p>
            <a:pPr>
              <a:defRPr sz="2200"/>
            </a:pPr>
          </a:p>
        </p:txBody>
      </p:sp>
      <p:sp>
        <p:nvSpPr>
          <p:cNvPr id="212" name="Shape 35"/>
          <p:cNvSpPr/>
          <p:nvPr/>
        </p:nvSpPr>
        <p:spPr>
          <a:xfrm>
            <a:off x="8101583" y="4873752"/>
            <a:ext cx="566929" cy="566929"/>
          </a:xfrm>
          <a:prstGeom prst="ellipse">
            <a:avLst/>
          </a:prstGeom>
          <a:solidFill>
            <a:srgbClr val="2E75B6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200"/>
            </a:pPr>
          </a:p>
        </p:txBody>
      </p:sp>
      <p:sp>
        <p:nvSpPr>
          <p:cNvPr id="213" name="Text 36"/>
          <p:cNvSpPr txBox="1"/>
          <p:nvPr/>
        </p:nvSpPr>
        <p:spPr>
          <a:xfrm>
            <a:off x="8147303" y="4946396"/>
            <a:ext cx="475489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2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214" name="Text 37"/>
          <p:cNvSpPr txBox="1"/>
          <p:nvPr/>
        </p:nvSpPr>
        <p:spPr>
          <a:xfrm>
            <a:off x="8878823" y="4782156"/>
            <a:ext cx="2377442" cy="740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2200">
                <a:solidFill>
                  <a:srgbClr val="1F4E79"/>
                </a:solidFill>
              </a:defRPr>
            </a:lvl1pPr>
          </a:lstStyle>
          <a:p>
            <a:pPr/>
            <a:r>
              <a:t>Cierre y sostenibilidad</a:t>
            </a:r>
          </a:p>
        </p:txBody>
      </p:sp>
      <p:sp>
        <p:nvSpPr>
          <p:cNvPr id="215" name="Text 38"/>
          <p:cNvSpPr txBox="1"/>
          <p:nvPr/>
        </p:nvSpPr>
        <p:spPr>
          <a:xfrm>
            <a:off x="594359" y="5968619"/>
            <a:ext cx="7223761" cy="4071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2200">
                <a:solidFill>
                  <a:srgbClr val="BF9000"/>
                </a:solidFill>
              </a:defRPr>
            </a:lvl1pPr>
          </a:lstStyle>
          <a:p>
            <a:pPr/>
            <a:r>
              <a:t>★  Fases donde nacen los 4 artefactos entregables</a:t>
            </a:r>
          </a:p>
        </p:txBody>
      </p:sp>
      <p:sp>
        <p:nvSpPr>
          <p:cNvPr id="216" name="Text 39"/>
          <p:cNvSpPr txBox="1"/>
          <p:nvPr/>
        </p:nvSpPr>
        <p:spPr>
          <a:xfrm>
            <a:off x="502919" y="6480723"/>
            <a:ext cx="722376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AA6B2"/>
                </a:solidFill>
              </a:defRPr>
            </a:lvl1pPr>
          </a:lstStyle>
          <a:p>
            <a:pPr/>
            <a:r>
              <a:t>EICIT · Acompañamiento al PEI de ENSMA</a:t>
            </a:r>
          </a:p>
        </p:txBody>
      </p:sp>
      <p:sp>
        <p:nvSpPr>
          <p:cNvPr id="217" name="Text 40"/>
          <p:cNvSpPr txBox="1"/>
          <p:nvPr/>
        </p:nvSpPr>
        <p:spPr>
          <a:xfrm>
            <a:off x="11384279" y="6480723"/>
            <a:ext cx="36576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9AA6B2"/>
                </a:solidFill>
              </a:defRPr>
            </a:lvl1pPr>
          </a:lstStyle>
          <a:p>
            <a:pPr/>
            <a:r>
              <a:t>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ext 0"/>
          <p:cNvSpPr txBox="1"/>
          <p:nvPr/>
        </p:nvSpPr>
        <p:spPr>
          <a:xfrm>
            <a:off x="502919" y="365760"/>
            <a:ext cx="1088136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3000">
                <a:solidFill>
                  <a:srgbClr val="1F4E79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Cronograma de ejecución</a:t>
            </a:r>
          </a:p>
        </p:txBody>
      </p:sp>
      <p:sp>
        <p:nvSpPr>
          <p:cNvPr id="220" name="Text 1"/>
          <p:cNvSpPr txBox="1"/>
          <p:nvPr/>
        </p:nvSpPr>
        <p:spPr>
          <a:xfrm>
            <a:off x="502919" y="956880"/>
            <a:ext cx="1115568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400">
                <a:solidFill>
                  <a:srgbClr val="BF9000"/>
                </a:solidFill>
              </a:defRPr>
            </a:lvl1pPr>
          </a:lstStyle>
          <a:p>
            <a:pPr/>
            <a:r>
              <a:t>10 semanas · el color indica quién lidera cada fase</a:t>
            </a:r>
          </a:p>
        </p:txBody>
      </p:sp>
      <p:sp>
        <p:nvSpPr>
          <p:cNvPr id="221" name="Shape 2"/>
          <p:cNvSpPr/>
          <p:nvPr/>
        </p:nvSpPr>
        <p:spPr>
          <a:xfrm flipH="1">
            <a:off x="3063239" y="1490472"/>
            <a:ext cx="1" cy="3913633"/>
          </a:xfrm>
          <a:prstGeom prst="line">
            <a:avLst/>
          </a:prstGeom>
          <a:ln w="12700">
            <a:solidFill>
              <a:srgbClr val="D5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2" name="Text 3"/>
          <p:cNvSpPr txBox="1"/>
          <p:nvPr/>
        </p:nvSpPr>
        <p:spPr>
          <a:xfrm>
            <a:off x="2567210" y="1220768"/>
            <a:ext cx="99206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8A98A8"/>
                </a:solidFill>
              </a:defRPr>
            </a:lvl1pPr>
          </a:lstStyle>
          <a:p>
            <a:pPr/>
            <a:r>
              <a:t>Sem 1 - Ago 12</a:t>
            </a:r>
          </a:p>
        </p:txBody>
      </p:sp>
      <p:sp>
        <p:nvSpPr>
          <p:cNvPr id="223" name="Shape 4"/>
          <p:cNvSpPr/>
          <p:nvPr/>
        </p:nvSpPr>
        <p:spPr>
          <a:xfrm flipH="1">
            <a:off x="4800599" y="1490472"/>
            <a:ext cx="1" cy="3913633"/>
          </a:xfrm>
          <a:prstGeom prst="line">
            <a:avLst/>
          </a:prstGeom>
          <a:ln w="12700">
            <a:solidFill>
              <a:srgbClr val="D5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4" name="Text 5"/>
          <p:cNvSpPr txBox="1"/>
          <p:nvPr/>
        </p:nvSpPr>
        <p:spPr>
          <a:xfrm>
            <a:off x="4389120" y="1229912"/>
            <a:ext cx="907509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8A98A8"/>
                </a:solidFill>
              </a:defRPr>
            </a:lvl1pPr>
          </a:lstStyle>
          <a:p>
            <a:pPr/>
            <a:r>
              <a:t>Sem 3 - Ago 31</a:t>
            </a:r>
          </a:p>
        </p:txBody>
      </p:sp>
      <p:sp>
        <p:nvSpPr>
          <p:cNvPr id="225" name="Shape 6"/>
          <p:cNvSpPr/>
          <p:nvPr/>
        </p:nvSpPr>
        <p:spPr>
          <a:xfrm>
            <a:off x="6537959" y="1490472"/>
            <a:ext cx="1" cy="3913633"/>
          </a:xfrm>
          <a:prstGeom prst="line">
            <a:avLst/>
          </a:prstGeom>
          <a:ln w="12700">
            <a:solidFill>
              <a:srgbClr val="D5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6" name="Text 7"/>
          <p:cNvSpPr txBox="1"/>
          <p:nvPr/>
        </p:nvSpPr>
        <p:spPr>
          <a:xfrm>
            <a:off x="6126479" y="1229912"/>
            <a:ext cx="90751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8A98A8"/>
                </a:solidFill>
              </a:defRPr>
            </a:lvl1pPr>
          </a:lstStyle>
          <a:p>
            <a:pPr/>
            <a:r>
              <a:t>Sem 5 -  sep 14</a:t>
            </a:r>
          </a:p>
        </p:txBody>
      </p:sp>
      <p:sp>
        <p:nvSpPr>
          <p:cNvPr id="227" name="Shape 8"/>
          <p:cNvSpPr/>
          <p:nvPr/>
        </p:nvSpPr>
        <p:spPr>
          <a:xfrm>
            <a:off x="8275319" y="1490472"/>
            <a:ext cx="1" cy="3913633"/>
          </a:xfrm>
          <a:prstGeom prst="line">
            <a:avLst/>
          </a:prstGeom>
          <a:ln w="12700">
            <a:solidFill>
              <a:srgbClr val="D5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8" name="Text 9"/>
          <p:cNvSpPr txBox="1"/>
          <p:nvPr/>
        </p:nvSpPr>
        <p:spPr>
          <a:xfrm>
            <a:off x="7863839" y="1229912"/>
            <a:ext cx="8229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8A98A8"/>
                </a:solidFill>
              </a:defRPr>
            </a:lvl1pPr>
          </a:lstStyle>
          <a:p>
            <a:pPr/>
            <a:r>
              <a:t>Sem 7 Sep 28</a:t>
            </a:r>
          </a:p>
        </p:txBody>
      </p:sp>
      <p:sp>
        <p:nvSpPr>
          <p:cNvPr id="229" name="Shape 10"/>
          <p:cNvSpPr/>
          <p:nvPr/>
        </p:nvSpPr>
        <p:spPr>
          <a:xfrm>
            <a:off x="10012680" y="1490472"/>
            <a:ext cx="1" cy="3913633"/>
          </a:xfrm>
          <a:prstGeom prst="line">
            <a:avLst/>
          </a:prstGeom>
          <a:ln w="12700">
            <a:solidFill>
              <a:srgbClr val="D5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0" name="Text 11"/>
          <p:cNvSpPr txBox="1"/>
          <p:nvPr/>
        </p:nvSpPr>
        <p:spPr>
          <a:xfrm>
            <a:off x="9601199" y="1229912"/>
            <a:ext cx="907510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8A98A8"/>
                </a:solidFill>
              </a:defRPr>
            </a:lvl1pPr>
          </a:lstStyle>
          <a:p>
            <a:pPr/>
            <a:r>
              <a:t>Sem 9 - Oct 12</a:t>
            </a:r>
          </a:p>
        </p:txBody>
      </p:sp>
      <p:sp>
        <p:nvSpPr>
          <p:cNvPr id="231" name="Shape 12"/>
          <p:cNvSpPr/>
          <p:nvPr/>
        </p:nvSpPr>
        <p:spPr>
          <a:xfrm>
            <a:off x="11750039" y="1490472"/>
            <a:ext cx="1" cy="3913633"/>
          </a:xfrm>
          <a:prstGeom prst="line">
            <a:avLst/>
          </a:prstGeom>
          <a:ln w="12700">
            <a:solidFill>
              <a:srgbClr val="D5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32" name="Text 13"/>
          <p:cNvSpPr txBox="1"/>
          <p:nvPr/>
        </p:nvSpPr>
        <p:spPr>
          <a:xfrm>
            <a:off x="11254011" y="1229912"/>
            <a:ext cx="907509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8A98A8"/>
                </a:solidFill>
              </a:defRPr>
            </a:lvl1pPr>
          </a:lstStyle>
          <a:p>
            <a:pPr/>
            <a:r>
              <a:t>Sem 10 - Oct 19</a:t>
            </a:r>
          </a:p>
        </p:txBody>
      </p:sp>
      <p:sp>
        <p:nvSpPr>
          <p:cNvPr id="233" name="Shape 14"/>
          <p:cNvSpPr/>
          <p:nvPr/>
        </p:nvSpPr>
        <p:spPr>
          <a:xfrm>
            <a:off x="457199" y="1755648"/>
            <a:ext cx="11292842" cy="384049"/>
          </a:xfrm>
          <a:prstGeom prst="rect">
            <a:avLst/>
          </a:prstGeom>
          <a:solidFill>
            <a:srgbClr val="F7FAF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4" name="Text 15"/>
          <p:cNvSpPr txBox="1"/>
          <p:nvPr/>
        </p:nvSpPr>
        <p:spPr>
          <a:xfrm>
            <a:off x="548639" y="1777799"/>
            <a:ext cx="237744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F4E79"/>
                </a:solidFill>
              </a:defRPr>
            </a:lvl1pPr>
          </a:lstStyle>
          <a:p>
            <a:pPr/>
            <a:r>
              <a:t>F0 · Alistamiento</a:t>
            </a:r>
          </a:p>
        </p:txBody>
      </p:sp>
      <p:sp>
        <p:nvSpPr>
          <p:cNvPr id="235" name="Shape 16"/>
          <p:cNvSpPr/>
          <p:nvPr/>
        </p:nvSpPr>
        <p:spPr>
          <a:xfrm>
            <a:off x="3063239" y="1783079"/>
            <a:ext cx="813817" cy="237745"/>
          </a:xfrm>
          <a:prstGeom prst="roundRect">
            <a:avLst>
              <a:gd name="adj" fmla="val 19231"/>
            </a:avLst>
          </a:prstGeom>
          <a:solidFill>
            <a:srgbClr val="9DB8C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6" name="Text 17"/>
          <p:cNvSpPr txBox="1"/>
          <p:nvPr/>
        </p:nvSpPr>
        <p:spPr>
          <a:xfrm>
            <a:off x="3108960" y="1787695"/>
            <a:ext cx="722377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1F4E79"/>
                </a:solidFill>
              </a:defRPr>
            </a:lvl1pPr>
          </a:lstStyle>
          <a:p>
            <a:pPr/>
            <a:r>
              <a:t>Ambas</a:t>
            </a:r>
          </a:p>
        </p:txBody>
      </p:sp>
      <p:sp>
        <p:nvSpPr>
          <p:cNvPr id="237" name="Text 18"/>
          <p:cNvSpPr txBox="1"/>
          <p:nvPr/>
        </p:nvSpPr>
        <p:spPr>
          <a:xfrm>
            <a:off x="548639" y="2180135"/>
            <a:ext cx="237744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F4E79"/>
                </a:solidFill>
              </a:defRPr>
            </a:lvl1pPr>
          </a:lstStyle>
          <a:p>
            <a:pPr/>
            <a:r>
              <a:t>F1 · Diagnóstico</a:t>
            </a:r>
          </a:p>
        </p:txBody>
      </p:sp>
      <p:sp>
        <p:nvSpPr>
          <p:cNvPr id="238" name="Shape 19"/>
          <p:cNvSpPr/>
          <p:nvPr/>
        </p:nvSpPr>
        <p:spPr>
          <a:xfrm>
            <a:off x="3063239" y="2185416"/>
            <a:ext cx="1682497" cy="237745"/>
          </a:xfrm>
          <a:prstGeom prst="roundRect">
            <a:avLst>
              <a:gd name="adj" fmla="val 19231"/>
            </a:avLst>
          </a:prstGeom>
          <a:solidFill>
            <a:srgbClr val="1F4E7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39" name="Text 20"/>
          <p:cNvSpPr txBox="1"/>
          <p:nvPr/>
        </p:nvSpPr>
        <p:spPr>
          <a:xfrm>
            <a:off x="3108960" y="2190032"/>
            <a:ext cx="1591057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EICIT</a:t>
            </a:r>
          </a:p>
        </p:txBody>
      </p:sp>
      <p:sp>
        <p:nvSpPr>
          <p:cNvPr id="240" name="Shape 21"/>
          <p:cNvSpPr/>
          <p:nvPr/>
        </p:nvSpPr>
        <p:spPr>
          <a:xfrm>
            <a:off x="457199" y="2560320"/>
            <a:ext cx="11292842" cy="384049"/>
          </a:xfrm>
          <a:prstGeom prst="rect">
            <a:avLst/>
          </a:prstGeom>
          <a:solidFill>
            <a:srgbClr val="F7FAF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1" name="Text 22"/>
          <p:cNvSpPr txBox="1"/>
          <p:nvPr/>
        </p:nvSpPr>
        <p:spPr>
          <a:xfrm>
            <a:off x="548639" y="2582471"/>
            <a:ext cx="237744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F4E79"/>
                </a:solidFill>
              </a:defRPr>
            </a:lvl1pPr>
          </a:lstStyle>
          <a:p>
            <a:pPr/>
            <a:r>
              <a:t>F2 · Referentes</a:t>
            </a:r>
          </a:p>
        </p:txBody>
      </p:sp>
      <p:sp>
        <p:nvSpPr>
          <p:cNvPr id="242" name="Shape 23"/>
          <p:cNvSpPr/>
          <p:nvPr/>
        </p:nvSpPr>
        <p:spPr>
          <a:xfrm>
            <a:off x="3931920" y="2587751"/>
            <a:ext cx="1682497" cy="237745"/>
          </a:xfrm>
          <a:prstGeom prst="roundRect">
            <a:avLst>
              <a:gd name="adj" fmla="val 19231"/>
            </a:avLst>
          </a:prstGeom>
          <a:solidFill>
            <a:srgbClr val="9DB8C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3" name="Text 24"/>
          <p:cNvSpPr txBox="1"/>
          <p:nvPr/>
        </p:nvSpPr>
        <p:spPr>
          <a:xfrm>
            <a:off x="3977640" y="2592368"/>
            <a:ext cx="1591057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1F4E79"/>
                </a:solidFill>
              </a:defRPr>
            </a:lvl1pPr>
          </a:lstStyle>
          <a:p>
            <a:pPr/>
            <a:r>
              <a:t>Ambas</a:t>
            </a:r>
          </a:p>
        </p:txBody>
      </p:sp>
      <p:sp>
        <p:nvSpPr>
          <p:cNvPr id="244" name="Text 25"/>
          <p:cNvSpPr txBox="1"/>
          <p:nvPr/>
        </p:nvSpPr>
        <p:spPr>
          <a:xfrm>
            <a:off x="548639" y="2984807"/>
            <a:ext cx="237744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F4E79"/>
                </a:solidFill>
              </a:defRPr>
            </a:lvl1pPr>
          </a:lstStyle>
          <a:p>
            <a:pPr/>
            <a:r>
              <a:t>F3 · Modelo pedagógico</a:t>
            </a:r>
          </a:p>
        </p:txBody>
      </p:sp>
      <p:sp>
        <p:nvSpPr>
          <p:cNvPr id="245" name="Shape 26"/>
          <p:cNvSpPr/>
          <p:nvPr/>
        </p:nvSpPr>
        <p:spPr>
          <a:xfrm>
            <a:off x="4800600" y="2990088"/>
            <a:ext cx="1682496" cy="237745"/>
          </a:xfrm>
          <a:prstGeom prst="roundRect">
            <a:avLst>
              <a:gd name="adj" fmla="val 19231"/>
            </a:avLst>
          </a:prstGeom>
          <a:solidFill>
            <a:srgbClr val="2E75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6" name="Text 27"/>
          <p:cNvSpPr txBox="1"/>
          <p:nvPr/>
        </p:nvSpPr>
        <p:spPr>
          <a:xfrm>
            <a:off x="4846320" y="2994704"/>
            <a:ext cx="1591057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ENSMA</a:t>
            </a:r>
          </a:p>
        </p:txBody>
      </p:sp>
      <p:sp>
        <p:nvSpPr>
          <p:cNvPr id="247" name="Shape 28"/>
          <p:cNvSpPr/>
          <p:nvPr/>
        </p:nvSpPr>
        <p:spPr>
          <a:xfrm>
            <a:off x="457199" y="3364991"/>
            <a:ext cx="11292842" cy="384049"/>
          </a:xfrm>
          <a:prstGeom prst="rect">
            <a:avLst/>
          </a:prstGeom>
          <a:solidFill>
            <a:srgbClr val="F7FAF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48" name="Text 29"/>
          <p:cNvSpPr txBox="1"/>
          <p:nvPr/>
        </p:nvSpPr>
        <p:spPr>
          <a:xfrm>
            <a:off x="548639" y="3387143"/>
            <a:ext cx="237744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F4E79"/>
                </a:solidFill>
              </a:defRPr>
            </a:lvl1pPr>
          </a:lstStyle>
          <a:p>
            <a:pPr/>
            <a:r>
              <a:t>F4 · Currículo y mallas</a:t>
            </a:r>
          </a:p>
        </p:txBody>
      </p:sp>
      <p:sp>
        <p:nvSpPr>
          <p:cNvPr id="249" name="Shape 30"/>
          <p:cNvSpPr/>
          <p:nvPr/>
        </p:nvSpPr>
        <p:spPr>
          <a:xfrm>
            <a:off x="5669279" y="3392423"/>
            <a:ext cx="3419857" cy="237745"/>
          </a:xfrm>
          <a:prstGeom prst="roundRect">
            <a:avLst>
              <a:gd name="adj" fmla="val 19231"/>
            </a:avLst>
          </a:prstGeom>
          <a:solidFill>
            <a:srgbClr val="2E75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0" name="Text 31"/>
          <p:cNvSpPr txBox="1"/>
          <p:nvPr/>
        </p:nvSpPr>
        <p:spPr>
          <a:xfrm>
            <a:off x="5715000" y="3397040"/>
            <a:ext cx="3328416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ENSMA</a:t>
            </a:r>
          </a:p>
        </p:txBody>
      </p:sp>
      <p:sp>
        <p:nvSpPr>
          <p:cNvPr id="251" name="Text 32"/>
          <p:cNvSpPr txBox="1"/>
          <p:nvPr/>
        </p:nvSpPr>
        <p:spPr>
          <a:xfrm>
            <a:off x="548639" y="3789479"/>
            <a:ext cx="237744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F4E79"/>
                </a:solidFill>
              </a:defRPr>
            </a:lvl1pPr>
          </a:lstStyle>
          <a:p>
            <a:pPr/>
            <a:r>
              <a:t>F5 · Ajuste del PEI</a:t>
            </a:r>
          </a:p>
        </p:txBody>
      </p:sp>
      <p:sp>
        <p:nvSpPr>
          <p:cNvPr id="252" name="Shape 33"/>
          <p:cNvSpPr/>
          <p:nvPr/>
        </p:nvSpPr>
        <p:spPr>
          <a:xfrm>
            <a:off x="7406640" y="3794759"/>
            <a:ext cx="2551177" cy="237745"/>
          </a:xfrm>
          <a:prstGeom prst="roundRect">
            <a:avLst>
              <a:gd name="adj" fmla="val 19231"/>
            </a:avLst>
          </a:prstGeom>
          <a:solidFill>
            <a:srgbClr val="2E75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3" name="Text 34"/>
          <p:cNvSpPr txBox="1"/>
          <p:nvPr/>
        </p:nvSpPr>
        <p:spPr>
          <a:xfrm>
            <a:off x="7452359" y="3799375"/>
            <a:ext cx="2459737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ENSMA</a:t>
            </a:r>
          </a:p>
        </p:txBody>
      </p:sp>
      <p:sp>
        <p:nvSpPr>
          <p:cNvPr id="254" name="Shape 35"/>
          <p:cNvSpPr/>
          <p:nvPr/>
        </p:nvSpPr>
        <p:spPr>
          <a:xfrm>
            <a:off x="457199" y="4169664"/>
            <a:ext cx="11292842" cy="384049"/>
          </a:xfrm>
          <a:prstGeom prst="rect">
            <a:avLst/>
          </a:prstGeom>
          <a:solidFill>
            <a:srgbClr val="F7FAF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5" name="Text 36"/>
          <p:cNvSpPr txBox="1"/>
          <p:nvPr/>
        </p:nvSpPr>
        <p:spPr>
          <a:xfrm>
            <a:off x="548639" y="4191815"/>
            <a:ext cx="237744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F4E79"/>
                </a:solidFill>
              </a:defRPr>
            </a:lvl1pPr>
          </a:lstStyle>
          <a:p>
            <a:pPr/>
            <a:r>
              <a:t>F6 · Diplomado en IA</a:t>
            </a:r>
          </a:p>
        </p:txBody>
      </p:sp>
      <p:sp>
        <p:nvSpPr>
          <p:cNvPr id="256" name="Shape 37"/>
          <p:cNvSpPr/>
          <p:nvPr/>
        </p:nvSpPr>
        <p:spPr>
          <a:xfrm>
            <a:off x="4800600" y="4197096"/>
            <a:ext cx="3419856" cy="237745"/>
          </a:xfrm>
          <a:prstGeom prst="roundRect">
            <a:avLst>
              <a:gd name="adj" fmla="val 19231"/>
            </a:avLst>
          </a:prstGeom>
          <a:solidFill>
            <a:srgbClr val="1F4E7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57" name="Text 38"/>
          <p:cNvSpPr txBox="1"/>
          <p:nvPr/>
        </p:nvSpPr>
        <p:spPr>
          <a:xfrm>
            <a:off x="4846320" y="4201712"/>
            <a:ext cx="3328416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EICIT</a:t>
            </a:r>
          </a:p>
        </p:txBody>
      </p:sp>
      <p:sp>
        <p:nvSpPr>
          <p:cNvPr id="258" name="Text 39"/>
          <p:cNvSpPr txBox="1"/>
          <p:nvPr/>
        </p:nvSpPr>
        <p:spPr>
          <a:xfrm>
            <a:off x="548639" y="4594151"/>
            <a:ext cx="237744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F4E79"/>
                </a:solidFill>
              </a:defRPr>
            </a:lvl1pPr>
          </a:lstStyle>
          <a:p>
            <a:pPr/>
            <a:r>
              <a:t>F7 · Adopción</a:t>
            </a:r>
          </a:p>
        </p:txBody>
      </p:sp>
      <p:sp>
        <p:nvSpPr>
          <p:cNvPr id="259" name="Shape 40"/>
          <p:cNvSpPr/>
          <p:nvPr/>
        </p:nvSpPr>
        <p:spPr>
          <a:xfrm>
            <a:off x="9144000" y="4599432"/>
            <a:ext cx="1682496" cy="237745"/>
          </a:xfrm>
          <a:prstGeom prst="roundRect">
            <a:avLst>
              <a:gd name="adj" fmla="val 19231"/>
            </a:avLst>
          </a:prstGeom>
          <a:solidFill>
            <a:srgbClr val="2E75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0" name="Text 41"/>
          <p:cNvSpPr txBox="1"/>
          <p:nvPr/>
        </p:nvSpPr>
        <p:spPr>
          <a:xfrm>
            <a:off x="9189719" y="4604048"/>
            <a:ext cx="1591057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ENSMA</a:t>
            </a:r>
          </a:p>
        </p:txBody>
      </p:sp>
      <p:sp>
        <p:nvSpPr>
          <p:cNvPr id="261" name="Shape 42"/>
          <p:cNvSpPr/>
          <p:nvPr/>
        </p:nvSpPr>
        <p:spPr>
          <a:xfrm>
            <a:off x="457199" y="4974335"/>
            <a:ext cx="11292842" cy="384049"/>
          </a:xfrm>
          <a:prstGeom prst="rect">
            <a:avLst/>
          </a:prstGeom>
          <a:solidFill>
            <a:srgbClr val="F7FAF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2" name="Text 43"/>
          <p:cNvSpPr txBox="1"/>
          <p:nvPr/>
        </p:nvSpPr>
        <p:spPr>
          <a:xfrm>
            <a:off x="548639" y="4996487"/>
            <a:ext cx="237744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F4E79"/>
                </a:solidFill>
              </a:defRPr>
            </a:lvl1pPr>
          </a:lstStyle>
          <a:p>
            <a:pPr/>
            <a:r>
              <a:t>F8 · Cierre</a:t>
            </a:r>
          </a:p>
        </p:txBody>
      </p:sp>
      <p:sp>
        <p:nvSpPr>
          <p:cNvPr id="263" name="Shape 44"/>
          <p:cNvSpPr/>
          <p:nvPr/>
        </p:nvSpPr>
        <p:spPr>
          <a:xfrm>
            <a:off x="10012680" y="5001767"/>
            <a:ext cx="1682497" cy="237745"/>
          </a:xfrm>
          <a:prstGeom prst="roundRect">
            <a:avLst>
              <a:gd name="adj" fmla="val 19231"/>
            </a:avLst>
          </a:prstGeom>
          <a:solidFill>
            <a:srgbClr val="9DB8C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4" name="Text 45"/>
          <p:cNvSpPr txBox="1"/>
          <p:nvPr/>
        </p:nvSpPr>
        <p:spPr>
          <a:xfrm>
            <a:off x="10058400" y="5006384"/>
            <a:ext cx="1591056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1F4E79"/>
                </a:solidFill>
              </a:defRPr>
            </a:lvl1pPr>
          </a:lstStyle>
          <a:p>
            <a:pPr/>
            <a:r>
              <a:t>Ambas</a:t>
            </a:r>
          </a:p>
        </p:txBody>
      </p:sp>
      <p:sp>
        <p:nvSpPr>
          <p:cNvPr id="265" name="Shape 46"/>
          <p:cNvSpPr/>
          <p:nvPr/>
        </p:nvSpPr>
        <p:spPr>
          <a:xfrm>
            <a:off x="4700015" y="2203704"/>
            <a:ext cx="201169" cy="201169"/>
          </a:xfrm>
          <a:prstGeom prst="diamond">
            <a:avLst/>
          </a:prstGeom>
          <a:solidFill>
            <a:srgbClr val="BF9000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6" name="Shape 47"/>
          <p:cNvSpPr/>
          <p:nvPr/>
        </p:nvSpPr>
        <p:spPr>
          <a:xfrm>
            <a:off x="10780776" y="4617720"/>
            <a:ext cx="201169" cy="201169"/>
          </a:xfrm>
          <a:prstGeom prst="diamond">
            <a:avLst/>
          </a:prstGeom>
          <a:solidFill>
            <a:srgbClr val="BF9000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7" name="Shape 48"/>
          <p:cNvSpPr/>
          <p:nvPr/>
        </p:nvSpPr>
        <p:spPr>
          <a:xfrm>
            <a:off x="502919" y="5550408"/>
            <a:ext cx="237745" cy="173737"/>
          </a:xfrm>
          <a:prstGeom prst="roundRect">
            <a:avLst>
              <a:gd name="adj" fmla="val 15789"/>
            </a:avLst>
          </a:prstGeom>
          <a:solidFill>
            <a:srgbClr val="1F4E7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68" name="Text 49"/>
          <p:cNvSpPr txBox="1"/>
          <p:nvPr/>
        </p:nvSpPr>
        <p:spPr>
          <a:xfrm>
            <a:off x="850391" y="5528993"/>
            <a:ext cx="192024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404040"/>
                </a:solidFill>
              </a:defRPr>
            </a:lvl1pPr>
          </a:lstStyle>
          <a:p>
            <a:pPr/>
            <a:r>
              <a:t>EICIT lidera</a:t>
            </a:r>
          </a:p>
        </p:txBody>
      </p:sp>
      <p:sp>
        <p:nvSpPr>
          <p:cNvPr id="269" name="Shape 50"/>
          <p:cNvSpPr/>
          <p:nvPr/>
        </p:nvSpPr>
        <p:spPr>
          <a:xfrm>
            <a:off x="2423160" y="5550408"/>
            <a:ext cx="237745" cy="173737"/>
          </a:xfrm>
          <a:prstGeom prst="roundRect">
            <a:avLst>
              <a:gd name="adj" fmla="val 15789"/>
            </a:avLst>
          </a:prstGeom>
          <a:solidFill>
            <a:srgbClr val="2E75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0" name="Text 51"/>
          <p:cNvSpPr txBox="1"/>
          <p:nvPr/>
        </p:nvSpPr>
        <p:spPr>
          <a:xfrm>
            <a:off x="2770632" y="5528993"/>
            <a:ext cx="192024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404040"/>
                </a:solidFill>
              </a:defRPr>
            </a:lvl1pPr>
          </a:lstStyle>
          <a:p>
            <a:pPr/>
            <a:r>
              <a:t>ENSMA lidera</a:t>
            </a:r>
          </a:p>
        </p:txBody>
      </p:sp>
      <p:sp>
        <p:nvSpPr>
          <p:cNvPr id="271" name="Shape 52"/>
          <p:cNvSpPr/>
          <p:nvPr/>
        </p:nvSpPr>
        <p:spPr>
          <a:xfrm>
            <a:off x="4434840" y="5550408"/>
            <a:ext cx="237745" cy="173737"/>
          </a:xfrm>
          <a:prstGeom prst="roundRect">
            <a:avLst>
              <a:gd name="adj" fmla="val 15789"/>
            </a:avLst>
          </a:prstGeom>
          <a:solidFill>
            <a:srgbClr val="9DB8C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72" name="Text 53"/>
          <p:cNvSpPr txBox="1"/>
          <p:nvPr/>
        </p:nvSpPr>
        <p:spPr>
          <a:xfrm>
            <a:off x="4782311" y="5528993"/>
            <a:ext cx="1920240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404040"/>
                </a:solidFill>
              </a:defRPr>
            </a:lvl1pPr>
          </a:lstStyle>
          <a:p>
            <a:pPr/>
            <a:r>
              <a:t>Ambas / coordinación</a:t>
            </a:r>
          </a:p>
        </p:txBody>
      </p:sp>
      <p:sp>
        <p:nvSpPr>
          <p:cNvPr id="273" name="Shape 54"/>
          <p:cNvSpPr/>
          <p:nvPr/>
        </p:nvSpPr>
        <p:spPr>
          <a:xfrm>
            <a:off x="6629400" y="5541264"/>
            <a:ext cx="182880" cy="182881"/>
          </a:xfrm>
          <a:prstGeom prst="diamond">
            <a:avLst/>
          </a:prstGeom>
          <a:solidFill>
            <a:srgbClr val="BF9000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4" name="Text 55"/>
          <p:cNvSpPr txBox="1"/>
          <p:nvPr/>
        </p:nvSpPr>
        <p:spPr>
          <a:xfrm>
            <a:off x="6949439" y="5528993"/>
            <a:ext cx="1371601" cy="2257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404040"/>
                </a:solidFill>
              </a:defRPr>
            </a:lvl1pPr>
          </a:lstStyle>
          <a:p>
            <a:pPr/>
            <a:r>
              <a:t>Hito clave</a:t>
            </a:r>
          </a:p>
        </p:txBody>
      </p:sp>
      <p:sp>
        <p:nvSpPr>
          <p:cNvPr id="275" name="Text 56"/>
          <p:cNvSpPr txBox="1"/>
          <p:nvPr/>
        </p:nvSpPr>
        <p:spPr>
          <a:xfrm>
            <a:off x="548639" y="5884208"/>
            <a:ext cx="108813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000">
                <a:solidFill>
                  <a:srgbClr val="404040"/>
                </a:solidFill>
              </a:defRPr>
            </a:lvl1pPr>
          </a:lstStyle>
          <a:p>
            <a:pPr/>
            <a:r>
              <a:t>El color indica quién LIDERA; el apoyo del otro actor se detalla en la matriz de responsabilidades.</a:t>
            </a:r>
          </a:p>
        </p:txBody>
      </p:sp>
      <p:sp>
        <p:nvSpPr>
          <p:cNvPr id="276" name="Text 57"/>
          <p:cNvSpPr txBox="1"/>
          <p:nvPr/>
        </p:nvSpPr>
        <p:spPr>
          <a:xfrm>
            <a:off x="548639" y="6121952"/>
            <a:ext cx="1106424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000">
                <a:solidFill>
                  <a:srgbClr val="BF9000"/>
                </a:solidFill>
              </a:defRPr>
            </a:lvl1pPr>
          </a:lstStyle>
          <a:p>
            <a:pPr/>
            <a:r>
              <a:t>Semana 2: ENSMA decide el carácter de la Media (académica o técnica)   ·   Semana 9: adopción del PEI por resolución rectoral</a:t>
            </a:r>
          </a:p>
        </p:txBody>
      </p:sp>
      <p:sp>
        <p:nvSpPr>
          <p:cNvPr id="277" name="Text 58"/>
          <p:cNvSpPr txBox="1"/>
          <p:nvPr/>
        </p:nvSpPr>
        <p:spPr>
          <a:xfrm>
            <a:off x="502919" y="6480723"/>
            <a:ext cx="722376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AA6B2"/>
                </a:solidFill>
              </a:defRPr>
            </a:lvl1pPr>
          </a:lstStyle>
          <a:p>
            <a:pPr/>
            <a:r>
              <a:t>EICIT · Acompañamiento al PEI de ENSMA</a:t>
            </a:r>
          </a:p>
        </p:txBody>
      </p:sp>
      <p:sp>
        <p:nvSpPr>
          <p:cNvPr id="278" name="Text 59"/>
          <p:cNvSpPr txBox="1"/>
          <p:nvPr/>
        </p:nvSpPr>
        <p:spPr>
          <a:xfrm>
            <a:off x="11384279" y="6480723"/>
            <a:ext cx="36576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9AA6B2"/>
                </a:solidFill>
              </a:defRPr>
            </a:lvl1pPr>
          </a:lstStyle>
          <a:p>
            <a:pPr/>
            <a:r>
              <a:t>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Text 0"/>
          <p:cNvSpPr txBox="1"/>
          <p:nvPr/>
        </p:nvSpPr>
        <p:spPr>
          <a:xfrm>
            <a:off x="502919" y="365760"/>
            <a:ext cx="1088136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3000">
                <a:solidFill>
                  <a:srgbClr val="1F4E79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Matriz de responsabilidades</a:t>
            </a:r>
          </a:p>
        </p:txBody>
      </p:sp>
      <p:sp>
        <p:nvSpPr>
          <p:cNvPr id="281" name="Text 1"/>
          <p:cNvSpPr txBox="1"/>
          <p:nvPr/>
        </p:nvSpPr>
        <p:spPr>
          <a:xfrm>
            <a:off x="502919" y="956880"/>
            <a:ext cx="1115568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400">
                <a:solidFill>
                  <a:srgbClr val="BF9000"/>
                </a:solidFill>
              </a:defRPr>
            </a:lvl1pPr>
          </a:lstStyle>
          <a:p>
            <a:pPr/>
            <a:r>
              <a:t>Quién lidera, quién apoya y qué se entrega en cada fase</a:t>
            </a:r>
          </a:p>
        </p:txBody>
      </p:sp>
      <p:graphicFrame>
        <p:nvGraphicFramePr>
          <p:cNvPr id="282" name="Table 0"/>
          <p:cNvGraphicFramePr/>
          <p:nvPr/>
        </p:nvGraphicFramePr>
        <p:xfrm>
          <a:off x="457200" y="1417319"/>
          <a:ext cx="11292841" cy="4572001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2286000"/>
                <a:gridCol w="1005839"/>
                <a:gridCol w="4343400"/>
                <a:gridCol w="365760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Fase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Lidera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Rol de apoyo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200">
                          <a:solidFill>
                            <a:srgbClr val="FFFFFF"/>
                          </a:solidFill>
                        </a:rPr>
                        <a:t>Entregable principal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1F4E79"/>
                          </a:solidFill>
                        </a:rPr>
                        <a:t>F0 · Alistamiento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BF9000"/>
                          </a:solidFill>
                        </a:rPr>
                        <a:t>Ambas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404040"/>
                          </a:solidFill>
                        </a:rPr>
                        <a:t>ENSMA convoca el equipo gestor; EICIT facilita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404040"/>
                          </a:solidFill>
                        </a:rPr>
                        <a:t>Acta, cronograma, matriz de insumos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1F4E79"/>
                          </a:solidFill>
                        </a:rPr>
                        <a:t>F1 · Diagnóstico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1F4E79"/>
                          </a:solidFill>
                        </a:rPr>
                        <a:t>EICIT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404040"/>
                          </a:solidFill>
                        </a:rPr>
                        <a:t>ENSMA aporta insumos y decide el carácter de la Media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404040"/>
                          </a:solidFill>
                        </a:rPr>
                        <a:t>Diagnóstico y brechas del plan de estudios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1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1F4E79"/>
                          </a:solidFill>
                        </a:rPr>
                        <a:t>F2 · Referentes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BF9000"/>
                          </a:solidFill>
                        </a:rPr>
                        <a:t>Ambas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404040"/>
                          </a:solidFill>
                        </a:rPr>
                        <a:t>EICIT co-anima; participan directivos y docentes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404040"/>
                          </a:solidFill>
                        </a:rPr>
                        <a:t>Fichas de referentes (Circular 0064)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1F4E79"/>
                          </a:solidFill>
                        </a:rPr>
                        <a:t>F3 · Modelo pedagógico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2E75B6"/>
                          </a:solidFill>
                        </a:rPr>
                        <a:t>ENSMA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404040"/>
                          </a:solidFill>
                        </a:rPr>
                        <a:t>EICIT interviene solo en los capítulos de innovación y tecnología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404040"/>
                          </a:solidFill>
                        </a:rPr>
                        <a:t>Modelo con componente tecnológico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1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1F4E79"/>
                          </a:solidFill>
                        </a:rPr>
                        <a:t>F4 · Currículo y mallas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2E75B6"/>
                          </a:solidFill>
                        </a:rPr>
                        <a:t>ENSMA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404040"/>
                          </a:solidFill>
                        </a:rPr>
                        <a:t>Áreas y departamentos; EICIT asesora la línea tecnológica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404040"/>
                          </a:solidFill>
                        </a:rPr>
                        <a:t>Mallas con progresión de innovación/tec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1F4E79"/>
                          </a:solidFill>
                        </a:rPr>
                        <a:t>F5 · Ajuste del PEI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2E75B6"/>
                          </a:solidFill>
                        </a:rPr>
                        <a:t>ENSMA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404040"/>
                          </a:solidFill>
                        </a:rPr>
                        <a:t>EICIT aporta insumos y verifica coherencia con la plantilla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404040"/>
                          </a:solidFill>
                        </a:rPr>
                        <a:t>PEI ajustado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1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1F4E79"/>
                          </a:solidFill>
                        </a:rPr>
                        <a:t>F6 · Diplomado en IA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1F4E79"/>
                          </a:solidFill>
                        </a:rPr>
                        <a:t>EICIT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404040"/>
                          </a:solidFill>
                        </a:rPr>
                        <a:t>ENSMA facilita la participación docente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404040"/>
                          </a:solidFill>
                        </a:rPr>
                        <a:t>Programa del Diplomado en IA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1F4E79"/>
                          </a:solidFill>
                        </a:rPr>
                        <a:t>F7 · Adopción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2E75B6"/>
                          </a:solidFill>
                        </a:rPr>
                        <a:t>ENSMA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404040"/>
                          </a:solidFill>
                        </a:rPr>
                        <a:t>Gobierno escolar; EICIT da soporte documental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1F6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404040"/>
                          </a:solidFill>
                        </a:rPr>
                        <a:t>Resolución rectoral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1F6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100">
                          <a:solidFill>
                            <a:srgbClr val="1F4E79"/>
                          </a:solidFill>
                        </a:rPr>
                        <a:t>F8 · Cierre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100">
                          <a:solidFill>
                            <a:srgbClr val="BF9000"/>
                          </a:solidFill>
                        </a:rPr>
                        <a:t>Ambas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404040"/>
                          </a:solidFill>
                        </a:rPr>
                        <a:t>EICIT transfiere capacidades; ENSMA sostiene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100">
                          <a:solidFill>
                            <a:srgbClr val="404040"/>
                          </a:solidFill>
                        </a:rPr>
                        <a:t>Ruta de sostenibilidad 2026-2027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3" name="Text 2"/>
          <p:cNvSpPr txBox="1"/>
          <p:nvPr/>
        </p:nvSpPr>
        <p:spPr>
          <a:xfrm>
            <a:off x="502919" y="6480723"/>
            <a:ext cx="722376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AA6B2"/>
                </a:solidFill>
              </a:defRPr>
            </a:lvl1pPr>
          </a:lstStyle>
          <a:p>
            <a:pPr/>
            <a:r>
              <a:t>EICIT · Acompañamiento al PEI de ENSMA</a:t>
            </a:r>
          </a:p>
        </p:txBody>
      </p:sp>
      <p:sp>
        <p:nvSpPr>
          <p:cNvPr id="284" name="Text 3"/>
          <p:cNvSpPr txBox="1"/>
          <p:nvPr/>
        </p:nvSpPr>
        <p:spPr>
          <a:xfrm>
            <a:off x="11384279" y="6480723"/>
            <a:ext cx="36576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9AA6B2"/>
                </a:solidFill>
              </a:defRPr>
            </a:lvl1pPr>
          </a:lstStyle>
          <a:p>
            <a:pPr/>
            <a:r>
              <a:t>8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Text 0"/>
          <p:cNvSpPr txBox="1"/>
          <p:nvPr/>
        </p:nvSpPr>
        <p:spPr>
          <a:xfrm>
            <a:off x="502919" y="411480"/>
            <a:ext cx="1088136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3000">
                <a:solidFill>
                  <a:srgbClr val="1F4E79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Lo que vamos a producir</a:t>
            </a:r>
          </a:p>
        </p:txBody>
      </p:sp>
      <p:sp>
        <p:nvSpPr>
          <p:cNvPr id="287" name="Text 1"/>
          <p:cNvSpPr txBox="1"/>
          <p:nvPr/>
        </p:nvSpPr>
        <p:spPr>
          <a:xfrm>
            <a:off x="502919" y="1004001"/>
            <a:ext cx="10881361" cy="277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500">
                <a:solidFill>
                  <a:srgbClr val="BF9000"/>
                </a:solidFill>
              </a:defRPr>
            </a:lvl1pPr>
          </a:lstStyle>
          <a:p>
            <a:pPr/>
            <a:r>
              <a:t>Cuatro artefactos entregables</a:t>
            </a:r>
          </a:p>
        </p:txBody>
      </p:sp>
      <p:sp>
        <p:nvSpPr>
          <p:cNvPr id="288" name="Shape 2"/>
          <p:cNvSpPr/>
          <p:nvPr/>
        </p:nvSpPr>
        <p:spPr>
          <a:xfrm>
            <a:off x="548640" y="1645920"/>
            <a:ext cx="5394960" cy="2148841"/>
          </a:xfrm>
          <a:prstGeom prst="roundRect">
            <a:avLst>
              <a:gd name="adj" fmla="val 4255"/>
            </a:avLst>
          </a:prstGeom>
          <a:solidFill>
            <a:srgbClr val="F4F8FC"/>
          </a:solidFill>
          <a:ln w="12700">
            <a:solidFill>
              <a:srgbClr val="D5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89" name="Shape 3"/>
          <p:cNvSpPr/>
          <p:nvPr/>
        </p:nvSpPr>
        <p:spPr>
          <a:xfrm>
            <a:off x="868680" y="2011679"/>
            <a:ext cx="914401" cy="914401"/>
          </a:xfrm>
          <a:prstGeom prst="ellipse">
            <a:avLst/>
          </a:prstGeom>
          <a:solidFill>
            <a:srgbClr val="2E75B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0" name="Text 4"/>
          <p:cNvSpPr txBox="1"/>
          <p:nvPr/>
        </p:nvSpPr>
        <p:spPr>
          <a:xfrm>
            <a:off x="914400" y="2226309"/>
            <a:ext cx="822961" cy="485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A</a:t>
            </a:r>
          </a:p>
        </p:txBody>
      </p:sp>
      <p:sp>
        <p:nvSpPr>
          <p:cNvPr id="291" name="Text 5"/>
          <p:cNvSpPr txBox="1"/>
          <p:nvPr/>
        </p:nvSpPr>
        <p:spPr>
          <a:xfrm>
            <a:off x="2057400" y="2073736"/>
            <a:ext cx="3566160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1F4E79"/>
                </a:solidFill>
              </a:defRPr>
            </a:lvl1pPr>
          </a:lstStyle>
          <a:p>
            <a:pPr/>
            <a:r>
              <a:t>Modelo pedagógico renovado</a:t>
            </a:r>
          </a:p>
        </p:txBody>
      </p:sp>
      <p:sp>
        <p:nvSpPr>
          <p:cNvPr id="292" name="Text 6"/>
          <p:cNvSpPr txBox="1"/>
          <p:nvPr/>
        </p:nvSpPr>
        <p:spPr>
          <a:xfrm>
            <a:off x="2057400" y="2560320"/>
            <a:ext cx="3566160" cy="4614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04040"/>
                </a:solidFill>
              </a:defRPr>
            </a:lvl1pPr>
          </a:lstStyle>
          <a:p>
            <a:pPr/>
            <a:r>
              <a:t>Injerto tecnológico coherente con el Sistema Preventivo</a:t>
            </a:r>
          </a:p>
        </p:txBody>
      </p:sp>
      <p:sp>
        <p:nvSpPr>
          <p:cNvPr id="293" name="Text 7"/>
          <p:cNvSpPr txBox="1"/>
          <p:nvPr/>
        </p:nvSpPr>
        <p:spPr>
          <a:xfrm>
            <a:off x="2057400" y="3304847"/>
            <a:ext cx="17373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i="1" sz="1200">
                <a:solidFill>
                  <a:srgbClr val="2E75B6"/>
                </a:solidFill>
              </a:defRPr>
            </a:lvl1pPr>
          </a:lstStyle>
          <a:p>
            <a:pPr/>
            <a:r>
              <a:t>Fase 3</a:t>
            </a:r>
          </a:p>
        </p:txBody>
      </p:sp>
      <p:sp>
        <p:nvSpPr>
          <p:cNvPr id="294" name="Shape 8"/>
          <p:cNvSpPr/>
          <p:nvPr/>
        </p:nvSpPr>
        <p:spPr>
          <a:xfrm>
            <a:off x="6126479" y="1645920"/>
            <a:ext cx="5394961" cy="2148841"/>
          </a:xfrm>
          <a:prstGeom prst="roundRect">
            <a:avLst>
              <a:gd name="adj" fmla="val 4255"/>
            </a:avLst>
          </a:prstGeom>
          <a:solidFill>
            <a:srgbClr val="F4F8FC"/>
          </a:solidFill>
          <a:ln w="12700">
            <a:solidFill>
              <a:srgbClr val="D5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95" name="Shape 9"/>
          <p:cNvSpPr/>
          <p:nvPr/>
        </p:nvSpPr>
        <p:spPr>
          <a:xfrm>
            <a:off x="6446520" y="2011679"/>
            <a:ext cx="914401" cy="914401"/>
          </a:xfrm>
          <a:prstGeom prst="ellipse">
            <a:avLst/>
          </a:prstGeom>
          <a:solidFill>
            <a:srgbClr val="1F4E7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296" name="Text 10"/>
          <p:cNvSpPr txBox="1"/>
          <p:nvPr/>
        </p:nvSpPr>
        <p:spPr>
          <a:xfrm>
            <a:off x="6492240" y="2226309"/>
            <a:ext cx="822961" cy="485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B</a:t>
            </a:r>
          </a:p>
        </p:txBody>
      </p:sp>
      <p:sp>
        <p:nvSpPr>
          <p:cNvPr id="297" name="Text 11"/>
          <p:cNvSpPr txBox="1"/>
          <p:nvPr/>
        </p:nvSpPr>
        <p:spPr>
          <a:xfrm>
            <a:off x="7635239" y="2073736"/>
            <a:ext cx="356616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1F4E79"/>
                </a:solidFill>
              </a:defRPr>
            </a:lvl1pPr>
          </a:lstStyle>
          <a:p>
            <a:pPr/>
            <a:r>
              <a:t>PEI actualizado</a:t>
            </a:r>
          </a:p>
        </p:txBody>
      </p:sp>
      <p:sp>
        <p:nvSpPr>
          <p:cNvPr id="298" name="Text 12"/>
          <p:cNvSpPr txBox="1"/>
          <p:nvPr/>
        </p:nvSpPr>
        <p:spPr>
          <a:xfrm>
            <a:off x="7635239" y="2560320"/>
            <a:ext cx="3566161" cy="2582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04040"/>
                </a:solidFill>
              </a:defRPr>
            </a:lvl1pPr>
          </a:lstStyle>
          <a:p>
            <a:pPr/>
            <a:r>
              <a:t>Conforme a la plantilla oficial y los 5 capítulos</a:t>
            </a:r>
          </a:p>
        </p:txBody>
      </p:sp>
      <p:sp>
        <p:nvSpPr>
          <p:cNvPr id="299" name="Text 13"/>
          <p:cNvSpPr txBox="1"/>
          <p:nvPr/>
        </p:nvSpPr>
        <p:spPr>
          <a:xfrm>
            <a:off x="7635239" y="3304847"/>
            <a:ext cx="17373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i="1" sz="1200">
                <a:solidFill>
                  <a:srgbClr val="1F4E79"/>
                </a:solidFill>
              </a:defRPr>
            </a:lvl1pPr>
          </a:lstStyle>
          <a:p>
            <a:pPr/>
            <a:r>
              <a:t>Fase 5</a:t>
            </a:r>
          </a:p>
        </p:txBody>
      </p:sp>
      <p:sp>
        <p:nvSpPr>
          <p:cNvPr id="300" name="Shape 14"/>
          <p:cNvSpPr/>
          <p:nvPr/>
        </p:nvSpPr>
        <p:spPr>
          <a:xfrm>
            <a:off x="548640" y="3977640"/>
            <a:ext cx="5394960" cy="2148841"/>
          </a:xfrm>
          <a:prstGeom prst="roundRect">
            <a:avLst>
              <a:gd name="adj" fmla="val 4255"/>
            </a:avLst>
          </a:prstGeom>
          <a:solidFill>
            <a:srgbClr val="F4F8FC"/>
          </a:solidFill>
          <a:ln w="12700">
            <a:solidFill>
              <a:srgbClr val="D5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1" name="Shape 15"/>
          <p:cNvSpPr/>
          <p:nvPr/>
        </p:nvSpPr>
        <p:spPr>
          <a:xfrm>
            <a:off x="868680" y="4343400"/>
            <a:ext cx="914401" cy="914400"/>
          </a:xfrm>
          <a:prstGeom prst="ellipse">
            <a:avLst/>
          </a:prstGeom>
          <a:solidFill>
            <a:srgbClr val="BF9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2" name="Text 16"/>
          <p:cNvSpPr txBox="1"/>
          <p:nvPr/>
        </p:nvSpPr>
        <p:spPr>
          <a:xfrm>
            <a:off x="914400" y="4558030"/>
            <a:ext cx="822961" cy="485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</a:t>
            </a:r>
          </a:p>
        </p:txBody>
      </p:sp>
      <p:sp>
        <p:nvSpPr>
          <p:cNvPr id="303" name="Text 17"/>
          <p:cNvSpPr txBox="1"/>
          <p:nvPr/>
        </p:nvSpPr>
        <p:spPr>
          <a:xfrm>
            <a:off x="2057400" y="4405456"/>
            <a:ext cx="3566160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1F4E79"/>
                </a:solidFill>
              </a:defRPr>
            </a:lvl1pPr>
          </a:lstStyle>
          <a:p>
            <a:pPr/>
            <a:r>
              <a:t>Mallas curriculares</a:t>
            </a:r>
          </a:p>
        </p:txBody>
      </p:sp>
      <p:sp>
        <p:nvSpPr>
          <p:cNvPr id="304" name="Text 18"/>
          <p:cNvSpPr txBox="1"/>
          <p:nvPr/>
        </p:nvSpPr>
        <p:spPr>
          <a:xfrm>
            <a:off x="2057400" y="4892040"/>
            <a:ext cx="3566160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04040"/>
                </a:solidFill>
              </a:defRPr>
            </a:lvl1pPr>
          </a:lstStyle>
          <a:p>
            <a:pPr/>
            <a:r>
              <a:t>Con la línea de innovación y tecnología de Transición a 11.°</a:t>
            </a:r>
          </a:p>
        </p:txBody>
      </p:sp>
      <p:sp>
        <p:nvSpPr>
          <p:cNvPr id="305" name="Text 19"/>
          <p:cNvSpPr txBox="1"/>
          <p:nvPr/>
        </p:nvSpPr>
        <p:spPr>
          <a:xfrm>
            <a:off x="2057400" y="5636567"/>
            <a:ext cx="17373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i="1" sz="1200">
                <a:solidFill>
                  <a:srgbClr val="BF9000"/>
                </a:solidFill>
              </a:defRPr>
            </a:lvl1pPr>
          </a:lstStyle>
          <a:p>
            <a:pPr/>
            <a:r>
              <a:t>Fase 4</a:t>
            </a:r>
          </a:p>
        </p:txBody>
      </p:sp>
      <p:sp>
        <p:nvSpPr>
          <p:cNvPr id="306" name="Shape 20"/>
          <p:cNvSpPr/>
          <p:nvPr/>
        </p:nvSpPr>
        <p:spPr>
          <a:xfrm>
            <a:off x="6126479" y="3977640"/>
            <a:ext cx="5394961" cy="2148841"/>
          </a:xfrm>
          <a:prstGeom prst="roundRect">
            <a:avLst>
              <a:gd name="adj" fmla="val 4255"/>
            </a:avLst>
          </a:prstGeom>
          <a:solidFill>
            <a:srgbClr val="F4F8FC"/>
          </a:solidFill>
          <a:ln w="12700">
            <a:solidFill>
              <a:srgbClr val="D5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7" name="Shape 21"/>
          <p:cNvSpPr/>
          <p:nvPr/>
        </p:nvSpPr>
        <p:spPr>
          <a:xfrm>
            <a:off x="6446520" y="4343400"/>
            <a:ext cx="914401" cy="914400"/>
          </a:xfrm>
          <a:prstGeom prst="ellipse">
            <a:avLst/>
          </a:prstGeom>
          <a:solidFill>
            <a:srgbClr val="6D2E46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08" name="Text 22"/>
          <p:cNvSpPr txBox="1"/>
          <p:nvPr/>
        </p:nvSpPr>
        <p:spPr>
          <a:xfrm>
            <a:off x="6492240" y="4558030"/>
            <a:ext cx="822961" cy="4851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6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D</a:t>
            </a:r>
          </a:p>
        </p:txBody>
      </p:sp>
      <p:sp>
        <p:nvSpPr>
          <p:cNvPr id="309" name="Text 23"/>
          <p:cNvSpPr txBox="1"/>
          <p:nvPr/>
        </p:nvSpPr>
        <p:spPr>
          <a:xfrm>
            <a:off x="7635239" y="4405456"/>
            <a:ext cx="3566161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>
                <a:solidFill>
                  <a:srgbClr val="1F4E79"/>
                </a:solidFill>
              </a:defRPr>
            </a:lvl1pPr>
          </a:lstStyle>
          <a:p>
            <a:pPr/>
            <a:r>
              <a:t>Diplomado en IA</a:t>
            </a:r>
          </a:p>
        </p:txBody>
      </p:sp>
      <p:sp>
        <p:nvSpPr>
          <p:cNvPr id="310" name="Text 24"/>
          <p:cNvSpPr txBox="1"/>
          <p:nvPr/>
        </p:nvSpPr>
        <p:spPr>
          <a:xfrm>
            <a:off x="7635239" y="4892040"/>
            <a:ext cx="3566161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04040"/>
                </a:solidFill>
              </a:defRPr>
            </a:lvl1pPr>
          </a:lstStyle>
          <a:p>
            <a:pPr/>
            <a:r>
              <a:t>Contenidos, intensidad horaria, metodología y evaluación</a:t>
            </a:r>
          </a:p>
        </p:txBody>
      </p:sp>
      <p:sp>
        <p:nvSpPr>
          <p:cNvPr id="311" name="Text 25"/>
          <p:cNvSpPr txBox="1"/>
          <p:nvPr/>
        </p:nvSpPr>
        <p:spPr>
          <a:xfrm>
            <a:off x="7635239" y="5636567"/>
            <a:ext cx="1737361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i="1" sz="1200">
                <a:solidFill>
                  <a:srgbClr val="6D2E46"/>
                </a:solidFill>
              </a:defRPr>
            </a:lvl1pPr>
          </a:lstStyle>
          <a:p>
            <a:pPr/>
            <a:r>
              <a:t>Fase 6</a:t>
            </a:r>
          </a:p>
        </p:txBody>
      </p:sp>
      <p:sp>
        <p:nvSpPr>
          <p:cNvPr id="312" name="Text 26"/>
          <p:cNvSpPr txBox="1"/>
          <p:nvPr/>
        </p:nvSpPr>
        <p:spPr>
          <a:xfrm>
            <a:off x="502919" y="6480723"/>
            <a:ext cx="722376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AA6B2"/>
                </a:solidFill>
              </a:defRPr>
            </a:lvl1pPr>
          </a:lstStyle>
          <a:p>
            <a:pPr/>
            <a:r>
              <a:t>EICIT · Acompañamiento al PEI de ENSMA</a:t>
            </a:r>
          </a:p>
        </p:txBody>
      </p:sp>
      <p:sp>
        <p:nvSpPr>
          <p:cNvPr id="313" name="Text 27"/>
          <p:cNvSpPr txBox="1"/>
          <p:nvPr/>
        </p:nvSpPr>
        <p:spPr>
          <a:xfrm>
            <a:off x="11384279" y="6480723"/>
            <a:ext cx="36576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9AA6B2"/>
                </a:solidFill>
              </a:defRPr>
            </a:lvl1pPr>
          </a:lstStyle>
          <a:p>
            <a:pPr/>
            <a:r>
              <a:t>9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Shape 0"/>
          <p:cNvSpPr/>
          <p:nvPr/>
        </p:nvSpPr>
        <p:spPr>
          <a:xfrm>
            <a:off x="9418319" y="-1280161"/>
            <a:ext cx="4114801" cy="4114801"/>
          </a:xfrm>
          <a:prstGeom prst="ellipse">
            <a:avLst/>
          </a:prstGeom>
          <a:solidFill>
            <a:srgbClr val="2E75B6">
              <a:alpha val="45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6" name="Text 1"/>
          <p:cNvSpPr txBox="1"/>
          <p:nvPr/>
        </p:nvSpPr>
        <p:spPr>
          <a:xfrm>
            <a:off x="685800" y="636840"/>
            <a:ext cx="996696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200" sz="1400">
                <a:solidFill>
                  <a:srgbClr val="D5E8F0"/>
                </a:solidFill>
              </a:defRPr>
            </a:lvl1pPr>
          </a:lstStyle>
          <a:p>
            <a:pPr/>
            <a:r>
              <a:t>Nuestro diferenciador</a:t>
            </a:r>
          </a:p>
        </p:txBody>
      </p:sp>
      <p:sp>
        <p:nvSpPr>
          <p:cNvPr id="317" name="Text 2"/>
          <p:cNvSpPr txBox="1"/>
          <p:nvPr/>
        </p:nvSpPr>
        <p:spPr>
          <a:xfrm>
            <a:off x="685800" y="1234440"/>
            <a:ext cx="10881360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30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La tecnología nace del carisma, no se pega encima</a:t>
            </a:r>
          </a:p>
        </p:txBody>
      </p:sp>
      <p:sp>
        <p:nvSpPr>
          <p:cNvPr id="318" name="Shape 3"/>
          <p:cNvSpPr/>
          <p:nvPr/>
        </p:nvSpPr>
        <p:spPr>
          <a:xfrm>
            <a:off x="640080" y="2286000"/>
            <a:ext cx="5349241" cy="1554481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19" name="Text 4"/>
          <p:cNvSpPr txBox="1"/>
          <p:nvPr/>
        </p:nvSpPr>
        <p:spPr>
          <a:xfrm>
            <a:off x="960119" y="2547183"/>
            <a:ext cx="47091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600">
                <a:solidFill>
                  <a:srgbClr val="BF9000"/>
                </a:solidFill>
              </a:defRPr>
            </a:lvl1pPr>
          </a:lstStyle>
          <a:p>
            <a:pPr/>
            <a:r>
              <a:t>Al servicio de la persona</a:t>
            </a:r>
          </a:p>
        </p:txBody>
      </p:sp>
      <p:sp>
        <p:nvSpPr>
          <p:cNvPr id="320" name="Text 5"/>
          <p:cNvSpPr txBox="1"/>
          <p:nvPr/>
        </p:nvSpPr>
        <p:spPr>
          <a:xfrm>
            <a:off x="960119" y="2944367"/>
            <a:ext cx="47091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04040"/>
                </a:solidFill>
              </a:defRPr>
            </a:lvl1pPr>
          </a:lstStyle>
          <a:p>
            <a:pPr/>
            <a:r>
              <a:t>Coherente con su humanismo cristiano (Freire, Habermas, Vygotsky).</a:t>
            </a:r>
          </a:p>
        </p:txBody>
      </p:sp>
      <p:sp>
        <p:nvSpPr>
          <p:cNvPr id="321" name="Shape 6"/>
          <p:cNvSpPr/>
          <p:nvPr/>
        </p:nvSpPr>
        <p:spPr>
          <a:xfrm>
            <a:off x="6217920" y="2286000"/>
            <a:ext cx="5349241" cy="1554481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2" name="Text 7"/>
          <p:cNvSpPr txBox="1"/>
          <p:nvPr/>
        </p:nvSpPr>
        <p:spPr>
          <a:xfrm>
            <a:off x="6537959" y="2547183"/>
            <a:ext cx="47091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600">
                <a:solidFill>
                  <a:srgbClr val="BF9000"/>
                </a:solidFill>
              </a:defRPr>
            </a:lvl1pPr>
          </a:lstStyle>
          <a:p>
            <a:pPr/>
            <a:r>
              <a:t>Cuidado tecnológico</a:t>
            </a:r>
          </a:p>
        </p:txBody>
      </p:sp>
      <p:sp>
        <p:nvSpPr>
          <p:cNvPr id="323" name="Text 8"/>
          <p:cNvSpPr txBox="1"/>
          <p:nvPr/>
        </p:nvSpPr>
        <p:spPr>
          <a:xfrm>
            <a:off x="6537959" y="2944367"/>
            <a:ext cx="4709161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04040"/>
                </a:solidFill>
              </a:defRPr>
            </a:lvl1pPr>
          </a:lstStyle>
          <a:p>
            <a:pPr/>
            <a:r>
              <a:t>Ya es su valor institucional 11; el componente digital lo hace concreto.</a:t>
            </a:r>
          </a:p>
        </p:txBody>
      </p:sp>
      <p:sp>
        <p:nvSpPr>
          <p:cNvPr id="324" name="Shape 9"/>
          <p:cNvSpPr/>
          <p:nvPr/>
        </p:nvSpPr>
        <p:spPr>
          <a:xfrm>
            <a:off x="640080" y="4069079"/>
            <a:ext cx="5349241" cy="1554481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5" name="Text 10"/>
          <p:cNvSpPr txBox="1"/>
          <p:nvPr/>
        </p:nvSpPr>
        <p:spPr>
          <a:xfrm>
            <a:off x="960119" y="4330263"/>
            <a:ext cx="47091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600">
                <a:solidFill>
                  <a:srgbClr val="BF9000"/>
                </a:solidFill>
              </a:defRPr>
            </a:lvl1pPr>
          </a:lstStyle>
          <a:p>
            <a:pPr/>
            <a:r>
              <a:t>Educar en positivo</a:t>
            </a:r>
          </a:p>
        </p:txBody>
      </p:sp>
      <p:sp>
        <p:nvSpPr>
          <p:cNvPr id="326" name="Text 11"/>
          <p:cNvSpPr txBox="1"/>
          <p:nvPr/>
        </p:nvSpPr>
        <p:spPr>
          <a:xfrm>
            <a:off x="960119" y="4727447"/>
            <a:ext cx="4709161" cy="2582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04040"/>
                </a:solidFill>
              </a:defRPr>
            </a:lvl1pPr>
          </a:lstStyle>
          <a:p>
            <a:pPr/>
            <a:r>
              <a:t>Innovación y protagonismo juvenil: crear, no solo consumir.</a:t>
            </a:r>
          </a:p>
        </p:txBody>
      </p:sp>
      <p:sp>
        <p:nvSpPr>
          <p:cNvPr id="327" name="Shape 12"/>
          <p:cNvSpPr/>
          <p:nvPr/>
        </p:nvSpPr>
        <p:spPr>
          <a:xfrm>
            <a:off x="6217920" y="4069079"/>
            <a:ext cx="5349241" cy="1554481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28" name="Text 13"/>
          <p:cNvSpPr txBox="1"/>
          <p:nvPr/>
        </p:nvSpPr>
        <p:spPr>
          <a:xfrm>
            <a:off x="6537959" y="4330263"/>
            <a:ext cx="470916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600">
                <a:solidFill>
                  <a:srgbClr val="BF9000"/>
                </a:solidFill>
              </a:defRPr>
            </a:lvl1pPr>
          </a:lstStyle>
          <a:p>
            <a:pPr/>
            <a:r>
              <a:t>Preventividad digital</a:t>
            </a:r>
          </a:p>
        </p:txBody>
      </p:sp>
      <p:sp>
        <p:nvSpPr>
          <p:cNvPr id="329" name="Text 14"/>
          <p:cNvSpPr txBox="1"/>
          <p:nvPr/>
        </p:nvSpPr>
        <p:spPr>
          <a:xfrm>
            <a:off x="6537959" y="4727447"/>
            <a:ext cx="4709161" cy="4614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defRPr sz="1300">
                <a:solidFill>
                  <a:srgbClr val="404040"/>
                </a:solidFill>
              </a:defRPr>
            </a:lvl1pPr>
          </a:lstStyle>
          <a:p>
            <a:pPr/>
            <a:r>
              <a:t>'Prevenir mejor que corregir' = entornos digitales seguros (Directiva MEN 01/2026).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Text 0"/>
          <p:cNvSpPr txBox="1"/>
          <p:nvPr/>
        </p:nvSpPr>
        <p:spPr>
          <a:xfrm>
            <a:off x="502919" y="411480"/>
            <a:ext cx="1088136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3000">
                <a:solidFill>
                  <a:srgbClr val="1F4E79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Qué necesitamos de la ENSMA</a:t>
            </a:r>
          </a:p>
        </p:txBody>
      </p:sp>
      <p:sp>
        <p:nvSpPr>
          <p:cNvPr id="332" name="Text 1"/>
          <p:cNvSpPr txBox="1"/>
          <p:nvPr/>
        </p:nvSpPr>
        <p:spPr>
          <a:xfrm>
            <a:off x="502919" y="1004001"/>
            <a:ext cx="11155682" cy="277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500">
                <a:solidFill>
                  <a:srgbClr val="BF9000"/>
                </a:solidFill>
              </a:defRPr>
            </a:lvl1pPr>
          </a:lstStyle>
          <a:p>
            <a:pPr/>
            <a:r>
              <a:t>Con lo que tenemos alcanza para el diagnóstico; no para producir los artefactos</a:t>
            </a:r>
          </a:p>
        </p:txBody>
      </p:sp>
      <p:graphicFrame>
        <p:nvGraphicFramePr>
          <p:cNvPr id="333" name="Table 0"/>
          <p:cNvGraphicFramePr/>
          <p:nvPr/>
        </p:nvGraphicFramePr>
        <p:xfrm>
          <a:off x="548640" y="1554480"/>
          <a:ext cx="11064241" cy="4773168"/>
        </p:xfrm>
        <a:graphic xmlns:a="http://schemas.openxmlformats.org/drawingml/2006/main">
          <a:graphicData uri="http://schemas.openxmlformats.org/drawingml/2006/table">
            <a:tbl>
              <a:tblPr firstCol="0" firstRow="0" lastCol="0" lastRow="0" bandCol="0" bandRow="0" rtl="0">
                <a:tableStyleId>{4C3C2611-4C71-4FC5-86AE-919BDF0F9419}</a:tableStyleId>
              </a:tblPr>
              <a:tblGrid>
                <a:gridCol w="9235440"/>
                <a:gridCol w="1828800"/>
              </a:tblGrid>
              <a:tr h="53035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INSUMO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400">
                          <a:solidFill>
                            <a:srgbClr val="FFFFFF"/>
                          </a:solidFill>
                        </a:rPr>
                        <a:t>PRIORIDAD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1F4E7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404040"/>
                          </a:solidFill>
                        </a:rPr>
                        <a:t>PEI editable + anexos hoy solo enlazados en Drive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1F4E79"/>
                          </a:solidFill>
                        </a:rPr>
                        <a:t>ALTA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404040"/>
                          </a:solidFill>
                        </a:rPr>
                        <a:t>Estado real de las mallas / planes de estudio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1F4E79"/>
                          </a:solidFill>
                        </a:rPr>
                        <a:t>ALTA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4F8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404040"/>
                          </a:solidFill>
                        </a:rPr>
                        <a:t>Definición: ¿Media académica con énfasis o técnica?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1F4E79"/>
                          </a:solidFill>
                        </a:rPr>
                        <a:t>ALTA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404040"/>
                          </a:solidFill>
                        </a:rPr>
                        <a:t>SIEE, Manual de Convivencia, PMI, POA, Guía 34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1F4E79"/>
                          </a:solidFill>
                        </a:rPr>
                        <a:t>ALTA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4F8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404040"/>
                          </a:solidFill>
                        </a:rPr>
                        <a:t>Estado del equipo gestor del PEI y gobierno escolar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1F4E79"/>
                          </a:solidFill>
                        </a:rPr>
                        <a:t>ALTA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404040"/>
                          </a:solidFill>
                        </a:rPr>
                        <a:t>Caracterización y competencias digitales docentes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1F4E79"/>
                          </a:solidFill>
                        </a:rPr>
                        <a:t>ALTA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4F8FC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404040"/>
                          </a:solidFill>
                        </a:rPr>
                        <a:t>Convenio SENA · Pruebas Saber · inventario tecnológico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BF9000"/>
                          </a:solidFill>
                        </a:rPr>
                        <a:t>MEDIA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300">
                          <a:solidFill>
                            <a:srgbClr val="404040"/>
                          </a:solidFill>
                        </a:rPr>
                        <a:t>Documentos doctrinales (PEPS, líneas FMA) · calendario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/>
                      </a:pPr>
                      <a:r>
                        <a:rPr b="1" sz="1300">
                          <a:solidFill>
                            <a:srgbClr val="BF9000"/>
                          </a:solidFill>
                        </a:rPr>
                        <a:t>MEDIA</a:t>
                      </a:r>
                    </a:p>
                  </a:txBody>
                  <a:tcPr marL="45720" marR="45720" marT="45720" marB="45720" anchor="ctr" anchorCtr="0" horzOverflow="overflow">
                    <a:lnL w="12700">
                      <a:solidFill>
                        <a:srgbClr val="D5E8F0"/>
                      </a:solidFill>
                    </a:lnL>
                    <a:lnR w="12700">
                      <a:solidFill>
                        <a:srgbClr val="D5E8F0"/>
                      </a:solidFill>
                    </a:lnR>
                    <a:lnT w="12700">
                      <a:solidFill>
                        <a:srgbClr val="D5E8F0"/>
                      </a:solidFill>
                    </a:lnT>
                    <a:lnB w="12700">
                      <a:solidFill>
                        <a:srgbClr val="D5E8F0"/>
                      </a:solidFill>
                    </a:lnB>
                    <a:solidFill>
                      <a:srgbClr val="F4F8FC"/>
                    </a:solidFill>
                  </a:tcPr>
                </a:tc>
              </a:tr>
            </a:tbl>
          </a:graphicData>
        </a:graphic>
      </p:graphicFrame>
      <p:sp>
        <p:nvSpPr>
          <p:cNvPr id="334" name="Text 2"/>
          <p:cNvSpPr txBox="1"/>
          <p:nvPr/>
        </p:nvSpPr>
        <p:spPr>
          <a:xfrm>
            <a:off x="502919" y="6480723"/>
            <a:ext cx="722376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AA6B2"/>
                </a:solidFill>
              </a:defRPr>
            </a:lvl1pPr>
          </a:lstStyle>
          <a:p>
            <a:pPr/>
            <a:r>
              <a:t>EICIT · Acompañamiento al PEI de ENSMA</a:t>
            </a:r>
          </a:p>
        </p:txBody>
      </p:sp>
      <p:sp>
        <p:nvSpPr>
          <p:cNvPr id="335" name="Text 3"/>
          <p:cNvSpPr txBox="1"/>
          <p:nvPr/>
        </p:nvSpPr>
        <p:spPr>
          <a:xfrm>
            <a:off x="11384279" y="6480723"/>
            <a:ext cx="36576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9AA6B2"/>
                </a:solidFill>
              </a:defRPr>
            </a:lvl1pPr>
          </a:lstStyle>
          <a:p>
            <a:pPr/>
            <a:r>
              <a:t>11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Text 0"/>
          <p:cNvSpPr txBox="1"/>
          <p:nvPr/>
        </p:nvSpPr>
        <p:spPr>
          <a:xfrm>
            <a:off x="502919" y="411480"/>
            <a:ext cx="1088136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3000">
                <a:solidFill>
                  <a:srgbClr val="1F4E79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Equipo y riesgo a vigilar</a:t>
            </a:r>
          </a:p>
        </p:txBody>
      </p:sp>
      <p:sp>
        <p:nvSpPr>
          <p:cNvPr id="338" name="Text 1"/>
          <p:cNvSpPr txBox="1"/>
          <p:nvPr/>
        </p:nvSpPr>
        <p:spPr>
          <a:xfrm>
            <a:off x="594359" y="1307794"/>
            <a:ext cx="5394961" cy="310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700">
                <a:solidFill>
                  <a:srgbClr val="2E75B6"/>
                </a:solidFill>
              </a:defRPr>
            </a:lvl1pPr>
          </a:lstStyle>
          <a:p>
            <a:pPr/>
            <a:r>
              <a:t>Equipo EICIT asignado</a:t>
            </a:r>
          </a:p>
        </p:txBody>
      </p:sp>
      <p:sp>
        <p:nvSpPr>
          <p:cNvPr id="339" name="Shape 2"/>
          <p:cNvSpPr/>
          <p:nvPr/>
        </p:nvSpPr>
        <p:spPr>
          <a:xfrm>
            <a:off x="571499" y="1965959"/>
            <a:ext cx="457201" cy="457201"/>
          </a:xfrm>
          <a:prstGeom prst="ellipse">
            <a:avLst/>
          </a:prstGeom>
          <a:solidFill>
            <a:srgbClr val="1F4E79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300"/>
            </a:pPr>
          </a:p>
        </p:txBody>
      </p:sp>
      <p:sp>
        <p:nvSpPr>
          <p:cNvPr id="340" name="Text 3"/>
          <p:cNvSpPr txBox="1"/>
          <p:nvPr/>
        </p:nvSpPr>
        <p:spPr>
          <a:xfrm>
            <a:off x="617219" y="1977389"/>
            <a:ext cx="365761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41" name="Text 4"/>
          <p:cNvSpPr txBox="1"/>
          <p:nvPr/>
        </p:nvSpPr>
        <p:spPr>
          <a:xfrm>
            <a:off x="1257299" y="2003273"/>
            <a:ext cx="4754881" cy="382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300">
                <a:solidFill>
                  <a:srgbClr val="404040"/>
                </a:solidFill>
              </a:defRPr>
            </a:lvl1pPr>
          </a:lstStyle>
          <a:p>
            <a:pPr/>
            <a:r>
              <a:t>Líder de proceso / enlace PEI</a:t>
            </a:r>
          </a:p>
        </p:txBody>
      </p:sp>
      <p:sp>
        <p:nvSpPr>
          <p:cNvPr id="342" name="Shape 5"/>
          <p:cNvSpPr/>
          <p:nvPr/>
        </p:nvSpPr>
        <p:spPr>
          <a:xfrm>
            <a:off x="571499" y="2624328"/>
            <a:ext cx="457201" cy="457201"/>
          </a:xfrm>
          <a:prstGeom prst="ellipse">
            <a:avLst/>
          </a:prstGeom>
          <a:solidFill>
            <a:srgbClr val="1F4E79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300"/>
            </a:pPr>
          </a:p>
        </p:txBody>
      </p:sp>
      <p:sp>
        <p:nvSpPr>
          <p:cNvPr id="343" name="Text 6"/>
          <p:cNvSpPr txBox="1"/>
          <p:nvPr/>
        </p:nvSpPr>
        <p:spPr>
          <a:xfrm>
            <a:off x="617219" y="2635758"/>
            <a:ext cx="365761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44" name="Text 7"/>
          <p:cNvSpPr txBox="1"/>
          <p:nvPr/>
        </p:nvSpPr>
        <p:spPr>
          <a:xfrm>
            <a:off x="1257299" y="2661641"/>
            <a:ext cx="4754881" cy="382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300">
                <a:solidFill>
                  <a:srgbClr val="404040"/>
                </a:solidFill>
              </a:defRPr>
            </a:lvl1pPr>
          </a:lstStyle>
          <a:p>
            <a:pPr/>
            <a:r>
              <a:t>Experto en currículo EPBM</a:t>
            </a:r>
          </a:p>
        </p:txBody>
      </p:sp>
      <p:sp>
        <p:nvSpPr>
          <p:cNvPr id="345" name="Shape 8"/>
          <p:cNvSpPr/>
          <p:nvPr/>
        </p:nvSpPr>
        <p:spPr>
          <a:xfrm>
            <a:off x="571499" y="3282696"/>
            <a:ext cx="457201" cy="457201"/>
          </a:xfrm>
          <a:prstGeom prst="ellipse">
            <a:avLst/>
          </a:prstGeom>
          <a:solidFill>
            <a:srgbClr val="1F4E79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300"/>
            </a:pPr>
          </a:p>
        </p:txBody>
      </p:sp>
      <p:sp>
        <p:nvSpPr>
          <p:cNvPr id="346" name="Text 9"/>
          <p:cNvSpPr txBox="1"/>
          <p:nvPr/>
        </p:nvSpPr>
        <p:spPr>
          <a:xfrm>
            <a:off x="617219" y="3294126"/>
            <a:ext cx="365761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47" name="Text 10"/>
          <p:cNvSpPr txBox="1"/>
          <p:nvPr/>
        </p:nvSpPr>
        <p:spPr>
          <a:xfrm>
            <a:off x="1257299" y="3320009"/>
            <a:ext cx="4754881" cy="382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300">
                <a:solidFill>
                  <a:srgbClr val="404040"/>
                </a:solidFill>
              </a:defRPr>
            </a:lvl1pPr>
          </a:lstStyle>
          <a:p>
            <a:pPr/>
            <a:r>
              <a:t>Experto STEAM / IA</a:t>
            </a:r>
          </a:p>
        </p:txBody>
      </p:sp>
      <p:sp>
        <p:nvSpPr>
          <p:cNvPr id="348" name="Shape 11"/>
          <p:cNvSpPr/>
          <p:nvPr/>
        </p:nvSpPr>
        <p:spPr>
          <a:xfrm>
            <a:off x="571499" y="3941064"/>
            <a:ext cx="457201" cy="457201"/>
          </a:xfrm>
          <a:prstGeom prst="ellipse">
            <a:avLst/>
          </a:prstGeom>
          <a:solidFill>
            <a:srgbClr val="1F4E79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300"/>
            </a:pPr>
          </a:p>
        </p:txBody>
      </p:sp>
      <p:sp>
        <p:nvSpPr>
          <p:cNvPr id="349" name="Text 12"/>
          <p:cNvSpPr txBox="1"/>
          <p:nvPr/>
        </p:nvSpPr>
        <p:spPr>
          <a:xfrm>
            <a:off x="617219" y="3952494"/>
            <a:ext cx="365761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50" name="Text 13"/>
          <p:cNvSpPr txBox="1"/>
          <p:nvPr/>
        </p:nvSpPr>
        <p:spPr>
          <a:xfrm>
            <a:off x="1257299" y="3978377"/>
            <a:ext cx="4754881" cy="382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300">
                <a:solidFill>
                  <a:srgbClr val="404040"/>
                </a:solidFill>
              </a:defRPr>
            </a:lvl1pPr>
          </a:lstStyle>
          <a:p>
            <a:pPr/>
            <a:r>
              <a:t>Formador situado de docentes</a:t>
            </a:r>
          </a:p>
        </p:txBody>
      </p:sp>
      <p:sp>
        <p:nvSpPr>
          <p:cNvPr id="351" name="Shape 14"/>
          <p:cNvSpPr/>
          <p:nvPr/>
        </p:nvSpPr>
        <p:spPr>
          <a:xfrm>
            <a:off x="571499" y="4599432"/>
            <a:ext cx="457201" cy="457201"/>
          </a:xfrm>
          <a:prstGeom prst="ellipse">
            <a:avLst/>
          </a:prstGeom>
          <a:solidFill>
            <a:srgbClr val="1F4E79"/>
          </a:solidFill>
          <a:ln w="12700">
            <a:miter lim="400000"/>
          </a:ln>
        </p:spPr>
        <p:txBody>
          <a:bodyPr lIns="45719" rIns="45719"/>
          <a:lstStyle/>
          <a:p>
            <a:pPr>
              <a:defRPr sz="2300"/>
            </a:pPr>
          </a:p>
        </p:txBody>
      </p:sp>
      <p:sp>
        <p:nvSpPr>
          <p:cNvPr id="352" name="Text 15"/>
          <p:cNvSpPr txBox="1"/>
          <p:nvPr/>
        </p:nvSpPr>
        <p:spPr>
          <a:xfrm>
            <a:off x="617219" y="4610862"/>
            <a:ext cx="365761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23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53" name="Text 16"/>
          <p:cNvSpPr txBox="1"/>
          <p:nvPr/>
        </p:nvSpPr>
        <p:spPr>
          <a:xfrm>
            <a:off x="1257299" y="4636745"/>
            <a:ext cx="4754881" cy="3825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2300">
                <a:solidFill>
                  <a:srgbClr val="404040"/>
                </a:solidFill>
              </a:defRPr>
            </a:lvl1pPr>
          </a:lstStyle>
          <a:p>
            <a:pPr/>
            <a:r>
              <a:t>Enlace administrativo / soporte</a:t>
            </a:r>
          </a:p>
        </p:txBody>
      </p:sp>
      <p:sp>
        <p:nvSpPr>
          <p:cNvPr id="354" name="Shape 17"/>
          <p:cNvSpPr/>
          <p:nvPr/>
        </p:nvSpPr>
        <p:spPr>
          <a:xfrm>
            <a:off x="6400800" y="1737360"/>
            <a:ext cx="5212080" cy="3840480"/>
          </a:xfrm>
          <a:prstGeom prst="roundRect">
            <a:avLst>
              <a:gd name="adj" fmla="val 2381"/>
            </a:avLst>
          </a:prstGeom>
          <a:solidFill>
            <a:srgbClr val="F4F8FC"/>
          </a:solidFill>
          <a:ln w="19050">
            <a:solidFill>
              <a:srgbClr val="BF900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5" name="Text 18"/>
          <p:cNvSpPr txBox="1"/>
          <p:nvPr/>
        </p:nvSpPr>
        <p:spPr>
          <a:xfrm>
            <a:off x="6720839" y="2023681"/>
            <a:ext cx="4480561" cy="34175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700">
                <a:solidFill>
                  <a:srgbClr val="BF9000"/>
                </a:solidFill>
              </a:defRPr>
            </a:lvl1pPr>
          </a:lstStyle>
          <a:p>
            <a:pPr/>
            <a:r>
              <a:t>⚠  Crítico para el kickoff</a:t>
            </a:r>
          </a:p>
        </p:txBody>
      </p:sp>
      <p:sp>
        <p:nvSpPr>
          <p:cNvPr id="356" name="Text 19"/>
          <p:cNvSpPr txBox="1"/>
          <p:nvPr/>
        </p:nvSpPr>
        <p:spPr>
          <a:xfrm>
            <a:off x="6720839" y="2514600"/>
            <a:ext cx="4572001" cy="737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defRPr sz="1400">
                <a:solidFill>
                  <a:srgbClr val="404040"/>
                </a:solidFill>
              </a:defRPr>
            </a:pPr>
            <a:r>
              <a:t>Que ENSMA conforme el equipo gestor </a:t>
            </a:r>
          </a:p>
          <a:p>
            <a:pPr>
              <a:defRPr sz="1400">
                <a:solidFill>
                  <a:srgbClr val="404040"/>
                </a:solidFill>
              </a:defRPr>
            </a:pPr>
            <a:r>
              <a:t>Entregar los insumos </a:t>
            </a:r>
          </a:p>
          <a:p>
            <a:pPr>
              <a:defRPr sz="1400">
                <a:solidFill>
                  <a:srgbClr val="404040"/>
                </a:solidFill>
              </a:defRPr>
            </a:pPr>
            <a:r>
              <a:t>Verificar estado de las mallas.</a:t>
            </a:r>
          </a:p>
        </p:txBody>
      </p:sp>
      <p:sp>
        <p:nvSpPr>
          <p:cNvPr id="357" name="Text 20"/>
          <p:cNvSpPr txBox="1"/>
          <p:nvPr/>
        </p:nvSpPr>
        <p:spPr>
          <a:xfrm>
            <a:off x="6720839" y="3747201"/>
            <a:ext cx="4480561" cy="277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500">
                <a:solidFill>
                  <a:srgbClr val="1F4E79"/>
                </a:solidFill>
              </a:defRPr>
            </a:lvl1pPr>
          </a:lstStyle>
          <a:p>
            <a:pPr/>
            <a:r>
              <a:t>Definir</a:t>
            </a:r>
          </a:p>
        </p:txBody>
      </p:sp>
      <p:sp>
        <p:nvSpPr>
          <p:cNvPr id="358" name="Text 21"/>
          <p:cNvSpPr txBox="1"/>
          <p:nvPr/>
        </p:nvSpPr>
        <p:spPr>
          <a:xfrm>
            <a:off x="6720839" y="4392099"/>
            <a:ext cx="4572001" cy="817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marL="342900" indent="-342900">
              <a:spcBef>
                <a:spcPts val="600"/>
              </a:spcBef>
              <a:buSzPct val="100000"/>
              <a:buChar char="•"/>
              <a:defRPr b="1" sz="1300">
                <a:solidFill>
                  <a:srgbClr val="404040"/>
                </a:solidFill>
              </a:defRPr>
            </a:pPr>
            <a:r>
              <a:t>Formalizar gobernanza en Fase 0</a:t>
            </a:r>
          </a:p>
          <a:p>
            <a:pPr marL="342900" indent="-342900">
              <a:spcBef>
                <a:spcPts val="600"/>
              </a:spcBef>
              <a:buSzPct val="100000"/>
              <a:buChar char="•"/>
              <a:defRPr b="1" sz="1300">
                <a:solidFill>
                  <a:srgbClr val="404040"/>
                </a:solidFill>
              </a:defRPr>
            </a:pPr>
            <a:r>
              <a:t>Matriz de insumos con responsables y fechas</a:t>
            </a:r>
          </a:p>
          <a:p>
            <a:pPr marL="342900" indent="-342900">
              <a:buSzPct val="100000"/>
              <a:buChar char="•"/>
              <a:defRPr b="1" sz="1300">
                <a:solidFill>
                  <a:srgbClr val="404040"/>
                </a:solidFill>
              </a:defRPr>
            </a:pPr>
            <a:r>
              <a:t>Decisión temprana sobre la Media</a:t>
            </a:r>
          </a:p>
        </p:txBody>
      </p:sp>
      <p:sp>
        <p:nvSpPr>
          <p:cNvPr id="359" name="Text 22"/>
          <p:cNvSpPr txBox="1"/>
          <p:nvPr/>
        </p:nvSpPr>
        <p:spPr>
          <a:xfrm>
            <a:off x="502919" y="6480723"/>
            <a:ext cx="722376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AA6B2"/>
                </a:solidFill>
              </a:defRPr>
            </a:lvl1pPr>
          </a:lstStyle>
          <a:p>
            <a:pPr/>
            <a:r>
              <a:t>EICIT · Acompañamiento al PEI de ENSMA</a:t>
            </a:r>
          </a:p>
        </p:txBody>
      </p:sp>
      <p:sp>
        <p:nvSpPr>
          <p:cNvPr id="360" name="Text 23"/>
          <p:cNvSpPr txBox="1"/>
          <p:nvPr/>
        </p:nvSpPr>
        <p:spPr>
          <a:xfrm>
            <a:off x="11384279" y="6480723"/>
            <a:ext cx="36576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9AA6B2"/>
                </a:solidFill>
              </a:defRPr>
            </a:lvl1pPr>
          </a:lstStyle>
          <a:p>
            <a:pPr/>
            <a:r>
              <a:t>12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1F4E7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2E75B6">
              <a:alpha val="4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3" name="Shape 1"/>
          <p:cNvSpPr/>
          <p:nvPr/>
        </p:nvSpPr>
        <p:spPr>
          <a:xfrm>
            <a:off x="10424159" y="4389120"/>
            <a:ext cx="3291841" cy="3291841"/>
          </a:xfrm>
          <a:prstGeom prst="ellipse">
            <a:avLst/>
          </a:prstGeom>
          <a:solidFill>
            <a:srgbClr val="BF9000">
              <a:alpha val="30000"/>
            </a:srgbClr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4" name="Text 2"/>
          <p:cNvSpPr txBox="1"/>
          <p:nvPr/>
        </p:nvSpPr>
        <p:spPr>
          <a:xfrm>
            <a:off x="685800" y="728280"/>
            <a:ext cx="9966960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pc="200" sz="1400">
                <a:solidFill>
                  <a:srgbClr val="D5E8F0"/>
                </a:solidFill>
              </a:defRPr>
            </a:lvl1pPr>
          </a:lstStyle>
          <a:p>
            <a:pPr/>
            <a:r>
              <a:t>Kickoff</a:t>
            </a:r>
          </a:p>
        </p:txBody>
      </p:sp>
      <p:sp>
        <p:nvSpPr>
          <p:cNvPr id="365" name="Text 3"/>
          <p:cNvSpPr txBox="1"/>
          <p:nvPr/>
        </p:nvSpPr>
        <p:spPr>
          <a:xfrm>
            <a:off x="685799" y="1254760"/>
            <a:ext cx="10698482" cy="599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3400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Próximos pasos inmediatos</a:t>
            </a:r>
          </a:p>
        </p:txBody>
      </p:sp>
      <p:sp>
        <p:nvSpPr>
          <p:cNvPr id="366" name="Shape 4"/>
          <p:cNvSpPr/>
          <p:nvPr/>
        </p:nvSpPr>
        <p:spPr>
          <a:xfrm>
            <a:off x="822960" y="2286000"/>
            <a:ext cx="548641" cy="548641"/>
          </a:xfrm>
          <a:prstGeom prst="ellipse">
            <a:avLst/>
          </a:prstGeom>
          <a:solidFill>
            <a:srgbClr val="BF9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67" name="Text 5"/>
          <p:cNvSpPr txBox="1"/>
          <p:nvPr/>
        </p:nvSpPr>
        <p:spPr>
          <a:xfrm>
            <a:off x="868680" y="2406650"/>
            <a:ext cx="45720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500">
                <a:solidFill>
                  <a:srgbClr val="1F4E79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368" name="Text 6"/>
          <p:cNvSpPr txBox="1"/>
          <p:nvPr/>
        </p:nvSpPr>
        <p:spPr>
          <a:xfrm>
            <a:off x="1645919" y="2410023"/>
            <a:ext cx="978408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pPr/>
            <a:r>
              <a:t>Aprobar el encuadre de asistencia técnica y este plan de trabajo</a:t>
            </a:r>
          </a:p>
        </p:txBody>
      </p:sp>
      <p:sp>
        <p:nvSpPr>
          <p:cNvPr id="369" name="Shape 7"/>
          <p:cNvSpPr/>
          <p:nvPr/>
        </p:nvSpPr>
        <p:spPr>
          <a:xfrm>
            <a:off x="822960" y="3035807"/>
            <a:ext cx="548641" cy="548641"/>
          </a:xfrm>
          <a:prstGeom prst="ellipse">
            <a:avLst/>
          </a:prstGeom>
          <a:solidFill>
            <a:srgbClr val="BF9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0" name="Text 8"/>
          <p:cNvSpPr txBox="1"/>
          <p:nvPr/>
        </p:nvSpPr>
        <p:spPr>
          <a:xfrm>
            <a:off x="868680" y="3156457"/>
            <a:ext cx="45720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500">
                <a:solidFill>
                  <a:srgbClr val="1F4E79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371" name="Text 9"/>
          <p:cNvSpPr txBox="1"/>
          <p:nvPr/>
        </p:nvSpPr>
        <p:spPr>
          <a:xfrm>
            <a:off x="1645919" y="3159831"/>
            <a:ext cx="978408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pPr/>
            <a:r>
              <a:t>Radicar ante ENSMA la solicitud de insumos (prioridad alta)</a:t>
            </a:r>
          </a:p>
        </p:txBody>
      </p:sp>
      <p:sp>
        <p:nvSpPr>
          <p:cNvPr id="372" name="Shape 10"/>
          <p:cNvSpPr/>
          <p:nvPr/>
        </p:nvSpPr>
        <p:spPr>
          <a:xfrm>
            <a:off x="822960" y="3785615"/>
            <a:ext cx="548641" cy="548641"/>
          </a:xfrm>
          <a:prstGeom prst="ellipse">
            <a:avLst/>
          </a:prstGeom>
          <a:solidFill>
            <a:srgbClr val="BF9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3" name="Text 11"/>
          <p:cNvSpPr txBox="1"/>
          <p:nvPr/>
        </p:nvSpPr>
        <p:spPr>
          <a:xfrm>
            <a:off x="868680" y="3906265"/>
            <a:ext cx="45720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500">
                <a:solidFill>
                  <a:srgbClr val="1F4E79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374" name="Text 12"/>
          <p:cNvSpPr txBox="1"/>
          <p:nvPr/>
        </p:nvSpPr>
        <p:spPr>
          <a:xfrm>
            <a:off x="1645919" y="3909639"/>
            <a:ext cx="978408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pPr/>
            <a:r>
              <a:t>Acompañar la conformación del equipo gestor del PEI (Fase 0)</a:t>
            </a:r>
          </a:p>
        </p:txBody>
      </p:sp>
      <p:sp>
        <p:nvSpPr>
          <p:cNvPr id="375" name="Shape 13"/>
          <p:cNvSpPr/>
          <p:nvPr/>
        </p:nvSpPr>
        <p:spPr>
          <a:xfrm>
            <a:off x="822960" y="4535423"/>
            <a:ext cx="548641" cy="548641"/>
          </a:xfrm>
          <a:prstGeom prst="ellipse">
            <a:avLst/>
          </a:prstGeom>
          <a:solidFill>
            <a:srgbClr val="BF9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6" name="Text 14"/>
          <p:cNvSpPr txBox="1"/>
          <p:nvPr/>
        </p:nvSpPr>
        <p:spPr>
          <a:xfrm>
            <a:off x="868680" y="4656074"/>
            <a:ext cx="45720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500">
                <a:solidFill>
                  <a:srgbClr val="1F4E79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377" name="Text 15"/>
          <p:cNvSpPr txBox="1"/>
          <p:nvPr/>
        </p:nvSpPr>
        <p:spPr>
          <a:xfrm>
            <a:off x="1645919" y="4659447"/>
            <a:ext cx="978408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pPr/>
            <a:r>
              <a:t>Convocar la definición sobre el carácter de la Media</a:t>
            </a:r>
          </a:p>
        </p:txBody>
      </p:sp>
      <p:sp>
        <p:nvSpPr>
          <p:cNvPr id="378" name="Shape 16"/>
          <p:cNvSpPr/>
          <p:nvPr/>
        </p:nvSpPr>
        <p:spPr>
          <a:xfrm>
            <a:off x="822960" y="5285232"/>
            <a:ext cx="548641" cy="548641"/>
          </a:xfrm>
          <a:prstGeom prst="ellipse">
            <a:avLst/>
          </a:prstGeom>
          <a:solidFill>
            <a:srgbClr val="BF9000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79" name="Text 17"/>
          <p:cNvSpPr txBox="1"/>
          <p:nvPr/>
        </p:nvSpPr>
        <p:spPr>
          <a:xfrm>
            <a:off x="868680" y="5405882"/>
            <a:ext cx="457201" cy="307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500">
                <a:solidFill>
                  <a:srgbClr val="1F4E79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380" name="Text 18"/>
          <p:cNvSpPr txBox="1"/>
          <p:nvPr/>
        </p:nvSpPr>
        <p:spPr>
          <a:xfrm>
            <a:off x="1645919" y="5409255"/>
            <a:ext cx="9784081" cy="3005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600">
                <a:solidFill>
                  <a:srgbClr val="FFFFFF"/>
                </a:solidFill>
              </a:defRPr>
            </a:lvl1pPr>
          </a:lstStyle>
          <a:p>
            <a:pPr/>
            <a:r>
              <a:t>Iniciar diagnóstico (Fase 1) y, en paralelo, el diseño del Diplomado en IA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="0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Text 0"/>
          <p:cNvSpPr txBox="1"/>
          <p:nvPr/>
        </p:nvSpPr>
        <p:spPr>
          <a:xfrm>
            <a:off x="502919" y="365760"/>
            <a:ext cx="10881361" cy="548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3000">
                <a:solidFill>
                  <a:srgbClr val="1F4E79"/>
                </a:solidFill>
                <a:latin typeface="Cambria"/>
                <a:ea typeface="Cambria"/>
                <a:cs typeface="Cambria"/>
                <a:sym typeface="Cambria"/>
              </a:defRPr>
            </a:lvl1pPr>
          </a:lstStyle>
          <a:p>
            <a:pPr/>
            <a:r>
              <a:t>Cronograma de ejecución</a:t>
            </a:r>
          </a:p>
        </p:txBody>
      </p:sp>
      <p:sp>
        <p:nvSpPr>
          <p:cNvPr id="383" name="Text 1"/>
          <p:cNvSpPr txBox="1"/>
          <p:nvPr/>
        </p:nvSpPr>
        <p:spPr>
          <a:xfrm>
            <a:off x="502919" y="956880"/>
            <a:ext cx="11155682" cy="280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400">
                <a:solidFill>
                  <a:srgbClr val="BF9000"/>
                </a:solidFill>
              </a:defRPr>
            </a:lvl1pPr>
          </a:lstStyle>
          <a:p>
            <a:pPr/>
            <a:r>
              <a:t>Semanas relativas (~20 sem ≈ 5 meses) — se anclan al calendario de ENSMA</a:t>
            </a:r>
          </a:p>
        </p:txBody>
      </p:sp>
      <p:sp>
        <p:nvSpPr>
          <p:cNvPr id="384" name="Shape 2"/>
          <p:cNvSpPr/>
          <p:nvPr/>
        </p:nvSpPr>
        <p:spPr>
          <a:xfrm flipH="1">
            <a:off x="3063239" y="1490472"/>
            <a:ext cx="1" cy="3913633"/>
          </a:xfrm>
          <a:prstGeom prst="line">
            <a:avLst/>
          </a:prstGeom>
          <a:ln w="12700">
            <a:solidFill>
              <a:srgbClr val="D5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5" name="Text 3"/>
          <p:cNvSpPr txBox="1"/>
          <p:nvPr/>
        </p:nvSpPr>
        <p:spPr>
          <a:xfrm>
            <a:off x="2651760" y="1229912"/>
            <a:ext cx="8229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8A98A8"/>
                </a:solidFill>
              </a:defRPr>
            </a:lvl1pPr>
          </a:lstStyle>
          <a:p>
            <a:pPr/>
            <a:r>
              <a:t>Sem 1</a:t>
            </a:r>
          </a:p>
        </p:txBody>
      </p:sp>
      <p:sp>
        <p:nvSpPr>
          <p:cNvPr id="386" name="Shape 4"/>
          <p:cNvSpPr/>
          <p:nvPr/>
        </p:nvSpPr>
        <p:spPr>
          <a:xfrm flipH="1">
            <a:off x="4800599" y="1490472"/>
            <a:ext cx="1" cy="3913633"/>
          </a:xfrm>
          <a:prstGeom prst="line">
            <a:avLst/>
          </a:prstGeom>
          <a:ln w="12700">
            <a:solidFill>
              <a:srgbClr val="D5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7" name="Text 5"/>
          <p:cNvSpPr txBox="1"/>
          <p:nvPr/>
        </p:nvSpPr>
        <p:spPr>
          <a:xfrm>
            <a:off x="4389120" y="1229912"/>
            <a:ext cx="8229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8A98A8"/>
                </a:solidFill>
              </a:defRPr>
            </a:lvl1pPr>
          </a:lstStyle>
          <a:p>
            <a:pPr/>
            <a:r>
              <a:t>Sem 5</a:t>
            </a:r>
          </a:p>
        </p:txBody>
      </p:sp>
      <p:sp>
        <p:nvSpPr>
          <p:cNvPr id="388" name="Shape 6"/>
          <p:cNvSpPr/>
          <p:nvPr/>
        </p:nvSpPr>
        <p:spPr>
          <a:xfrm>
            <a:off x="6537959" y="1490472"/>
            <a:ext cx="1" cy="3913633"/>
          </a:xfrm>
          <a:prstGeom prst="line">
            <a:avLst/>
          </a:prstGeom>
          <a:ln w="12700">
            <a:solidFill>
              <a:srgbClr val="D5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9" name="Text 7"/>
          <p:cNvSpPr txBox="1"/>
          <p:nvPr/>
        </p:nvSpPr>
        <p:spPr>
          <a:xfrm>
            <a:off x="6126479" y="1229912"/>
            <a:ext cx="8229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8A98A8"/>
                </a:solidFill>
              </a:defRPr>
            </a:lvl1pPr>
          </a:lstStyle>
          <a:p>
            <a:pPr/>
            <a:r>
              <a:t>Sem 9</a:t>
            </a:r>
          </a:p>
        </p:txBody>
      </p:sp>
      <p:sp>
        <p:nvSpPr>
          <p:cNvPr id="390" name="Shape 8"/>
          <p:cNvSpPr/>
          <p:nvPr/>
        </p:nvSpPr>
        <p:spPr>
          <a:xfrm>
            <a:off x="8275319" y="1490472"/>
            <a:ext cx="1" cy="3913633"/>
          </a:xfrm>
          <a:prstGeom prst="line">
            <a:avLst/>
          </a:prstGeom>
          <a:ln w="12700">
            <a:solidFill>
              <a:srgbClr val="D5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1" name="Text 9"/>
          <p:cNvSpPr txBox="1"/>
          <p:nvPr/>
        </p:nvSpPr>
        <p:spPr>
          <a:xfrm>
            <a:off x="7863839" y="1229912"/>
            <a:ext cx="8229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8A98A8"/>
                </a:solidFill>
              </a:defRPr>
            </a:lvl1pPr>
          </a:lstStyle>
          <a:p>
            <a:pPr/>
            <a:r>
              <a:t>Sem 13</a:t>
            </a:r>
          </a:p>
        </p:txBody>
      </p:sp>
      <p:sp>
        <p:nvSpPr>
          <p:cNvPr id="392" name="Shape 10"/>
          <p:cNvSpPr/>
          <p:nvPr/>
        </p:nvSpPr>
        <p:spPr>
          <a:xfrm>
            <a:off x="10012680" y="1490472"/>
            <a:ext cx="1" cy="3913633"/>
          </a:xfrm>
          <a:prstGeom prst="line">
            <a:avLst/>
          </a:prstGeom>
          <a:ln w="12700">
            <a:solidFill>
              <a:srgbClr val="D5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3" name="Text 11"/>
          <p:cNvSpPr txBox="1"/>
          <p:nvPr/>
        </p:nvSpPr>
        <p:spPr>
          <a:xfrm>
            <a:off x="9601200" y="1229912"/>
            <a:ext cx="8229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8A98A8"/>
                </a:solidFill>
              </a:defRPr>
            </a:lvl1pPr>
          </a:lstStyle>
          <a:p>
            <a:pPr/>
            <a:r>
              <a:t>Sem 17</a:t>
            </a:r>
          </a:p>
        </p:txBody>
      </p:sp>
      <p:sp>
        <p:nvSpPr>
          <p:cNvPr id="394" name="Shape 12"/>
          <p:cNvSpPr/>
          <p:nvPr/>
        </p:nvSpPr>
        <p:spPr>
          <a:xfrm>
            <a:off x="11315699" y="1490472"/>
            <a:ext cx="1" cy="3913633"/>
          </a:xfrm>
          <a:prstGeom prst="line">
            <a:avLst/>
          </a:prstGeom>
          <a:ln w="12700">
            <a:solidFill>
              <a:srgbClr val="D5E8F0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5" name="Text 13"/>
          <p:cNvSpPr txBox="1"/>
          <p:nvPr/>
        </p:nvSpPr>
        <p:spPr>
          <a:xfrm>
            <a:off x="10904219" y="1229912"/>
            <a:ext cx="822961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sz="1000">
                <a:solidFill>
                  <a:srgbClr val="8A98A8"/>
                </a:solidFill>
              </a:defRPr>
            </a:lvl1pPr>
          </a:lstStyle>
          <a:p>
            <a:pPr/>
            <a:r>
              <a:t>Sem 20</a:t>
            </a:r>
          </a:p>
        </p:txBody>
      </p:sp>
      <p:sp>
        <p:nvSpPr>
          <p:cNvPr id="396" name="Shape 14"/>
          <p:cNvSpPr/>
          <p:nvPr/>
        </p:nvSpPr>
        <p:spPr>
          <a:xfrm>
            <a:off x="457199" y="1755648"/>
            <a:ext cx="11292842" cy="384049"/>
          </a:xfrm>
          <a:prstGeom prst="rect">
            <a:avLst/>
          </a:prstGeom>
          <a:solidFill>
            <a:srgbClr val="F7FAF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7" name="Text 15"/>
          <p:cNvSpPr txBox="1"/>
          <p:nvPr/>
        </p:nvSpPr>
        <p:spPr>
          <a:xfrm>
            <a:off x="548639" y="1777799"/>
            <a:ext cx="237744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F4E79"/>
                </a:solidFill>
              </a:defRPr>
            </a:lvl1pPr>
          </a:lstStyle>
          <a:p>
            <a:pPr/>
            <a:r>
              <a:t>F0 · Alistamiento</a:t>
            </a:r>
          </a:p>
        </p:txBody>
      </p:sp>
      <p:sp>
        <p:nvSpPr>
          <p:cNvPr id="398" name="Shape 16"/>
          <p:cNvSpPr/>
          <p:nvPr/>
        </p:nvSpPr>
        <p:spPr>
          <a:xfrm>
            <a:off x="3063239" y="1783079"/>
            <a:ext cx="813817" cy="237745"/>
          </a:xfrm>
          <a:prstGeom prst="roundRect">
            <a:avLst>
              <a:gd name="adj" fmla="val 19231"/>
            </a:avLst>
          </a:prstGeom>
          <a:solidFill>
            <a:srgbClr val="9DB8C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399" name="Text 17"/>
          <p:cNvSpPr txBox="1"/>
          <p:nvPr/>
        </p:nvSpPr>
        <p:spPr>
          <a:xfrm>
            <a:off x="548639" y="2180135"/>
            <a:ext cx="237744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F4E79"/>
                </a:solidFill>
              </a:defRPr>
            </a:lvl1pPr>
          </a:lstStyle>
          <a:p>
            <a:pPr/>
            <a:r>
              <a:t>F1 · Diagnóstico</a:t>
            </a:r>
          </a:p>
        </p:txBody>
      </p:sp>
      <p:sp>
        <p:nvSpPr>
          <p:cNvPr id="400" name="Shape 18"/>
          <p:cNvSpPr/>
          <p:nvPr/>
        </p:nvSpPr>
        <p:spPr>
          <a:xfrm>
            <a:off x="3931920" y="2185416"/>
            <a:ext cx="1248157" cy="237745"/>
          </a:xfrm>
          <a:prstGeom prst="roundRect">
            <a:avLst>
              <a:gd name="adj" fmla="val 19231"/>
            </a:avLst>
          </a:prstGeom>
          <a:solidFill>
            <a:srgbClr val="9DB8C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1" name="Text 19"/>
          <p:cNvSpPr txBox="1"/>
          <p:nvPr/>
        </p:nvSpPr>
        <p:spPr>
          <a:xfrm>
            <a:off x="3977640" y="2190032"/>
            <a:ext cx="1156717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3 sem</a:t>
            </a:r>
          </a:p>
        </p:txBody>
      </p:sp>
      <p:sp>
        <p:nvSpPr>
          <p:cNvPr id="402" name="Shape 20"/>
          <p:cNvSpPr/>
          <p:nvPr/>
        </p:nvSpPr>
        <p:spPr>
          <a:xfrm>
            <a:off x="457199" y="2560320"/>
            <a:ext cx="11292842" cy="384049"/>
          </a:xfrm>
          <a:prstGeom prst="rect">
            <a:avLst/>
          </a:prstGeom>
          <a:solidFill>
            <a:srgbClr val="F7FAF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3" name="Text 21"/>
          <p:cNvSpPr txBox="1"/>
          <p:nvPr/>
        </p:nvSpPr>
        <p:spPr>
          <a:xfrm>
            <a:off x="548639" y="2582471"/>
            <a:ext cx="237744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F4E79"/>
                </a:solidFill>
              </a:defRPr>
            </a:lvl1pPr>
          </a:lstStyle>
          <a:p>
            <a:pPr/>
            <a:r>
              <a:t>F2 · Referentes</a:t>
            </a:r>
          </a:p>
        </p:txBody>
      </p:sp>
      <p:sp>
        <p:nvSpPr>
          <p:cNvPr id="404" name="Shape 22"/>
          <p:cNvSpPr/>
          <p:nvPr/>
        </p:nvSpPr>
        <p:spPr>
          <a:xfrm>
            <a:off x="3931920" y="2587751"/>
            <a:ext cx="1248157" cy="237745"/>
          </a:xfrm>
          <a:prstGeom prst="roundRect">
            <a:avLst>
              <a:gd name="adj" fmla="val 19231"/>
            </a:avLst>
          </a:prstGeom>
          <a:solidFill>
            <a:srgbClr val="9DB8C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5" name="Text 23"/>
          <p:cNvSpPr txBox="1"/>
          <p:nvPr/>
        </p:nvSpPr>
        <p:spPr>
          <a:xfrm>
            <a:off x="3977640" y="2592368"/>
            <a:ext cx="1156717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3 sem ∥</a:t>
            </a:r>
          </a:p>
        </p:txBody>
      </p:sp>
      <p:sp>
        <p:nvSpPr>
          <p:cNvPr id="406" name="Text 24"/>
          <p:cNvSpPr txBox="1"/>
          <p:nvPr/>
        </p:nvSpPr>
        <p:spPr>
          <a:xfrm>
            <a:off x="548639" y="2984807"/>
            <a:ext cx="237744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F4E79"/>
                </a:solidFill>
              </a:defRPr>
            </a:lvl1pPr>
          </a:lstStyle>
          <a:p>
            <a:pPr/>
            <a:r>
              <a:t>F3 · Modelo pedagógico</a:t>
            </a:r>
          </a:p>
        </p:txBody>
      </p:sp>
      <p:sp>
        <p:nvSpPr>
          <p:cNvPr id="407" name="Shape 25"/>
          <p:cNvSpPr/>
          <p:nvPr/>
        </p:nvSpPr>
        <p:spPr>
          <a:xfrm>
            <a:off x="5234940" y="2990088"/>
            <a:ext cx="1248157" cy="237745"/>
          </a:xfrm>
          <a:prstGeom prst="roundRect">
            <a:avLst>
              <a:gd name="adj" fmla="val 19231"/>
            </a:avLst>
          </a:prstGeom>
          <a:solidFill>
            <a:srgbClr val="1F4E7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08" name="Text 26"/>
          <p:cNvSpPr txBox="1"/>
          <p:nvPr/>
        </p:nvSpPr>
        <p:spPr>
          <a:xfrm>
            <a:off x="5280660" y="2994704"/>
            <a:ext cx="1156717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3 sem</a:t>
            </a:r>
          </a:p>
        </p:txBody>
      </p:sp>
      <p:sp>
        <p:nvSpPr>
          <p:cNvPr id="409" name="Shape 27"/>
          <p:cNvSpPr/>
          <p:nvPr/>
        </p:nvSpPr>
        <p:spPr>
          <a:xfrm>
            <a:off x="457199" y="3364991"/>
            <a:ext cx="11292842" cy="384049"/>
          </a:xfrm>
          <a:prstGeom prst="rect">
            <a:avLst/>
          </a:prstGeom>
          <a:solidFill>
            <a:srgbClr val="F7FAF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0" name="Text 28"/>
          <p:cNvSpPr txBox="1"/>
          <p:nvPr/>
        </p:nvSpPr>
        <p:spPr>
          <a:xfrm>
            <a:off x="548639" y="3387143"/>
            <a:ext cx="237744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F4E79"/>
                </a:solidFill>
              </a:defRPr>
            </a:lvl1pPr>
          </a:lstStyle>
          <a:p>
            <a:pPr/>
            <a:r>
              <a:t>F4 · Currículo y mallas</a:t>
            </a:r>
          </a:p>
        </p:txBody>
      </p:sp>
      <p:sp>
        <p:nvSpPr>
          <p:cNvPr id="411" name="Shape 29"/>
          <p:cNvSpPr/>
          <p:nvPr/>
        </p:nvSpPr>
        <p:spPr>
          <a:xfrm>
            <a:off x="6537959" y="3392423"/>
            <a:ext cx="2551177" cy="237745"/>
          </a:xfrm>
          <a:prstGeom prst="roundRect">
            <a:avLst>
              <a:gd name="adj" fmla="val 19231"/>
            </a:avLst>
          </a:prstGeom>
          <a:solidFill>
            <a:srgbClr val="1F4E7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2" name="Text 30"/>
          <p:cNvSpPr txBox="1"/>
          <p:nvPr/>
        </p:nvSpPr>
        <p:spPr>
          <a:xfrm>
            <a:off x="6583679" y="3397040"/>
            <a:ext cx="2459737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6 sem</a:t>
            </a:r>
          </a:p>
        </p:txBody>
      </p:sp>
      <p:sp>
        <p:nvSpPr>
          <p:cNvPr id="413" name="Text 31"/>
          <p:cNvSpPr txBox="1"/>
          <p:nvPr/>
        </p:nvSpPr>
        <p:spPr>
          <a:xfrm>
            <a:off x="548639" y="3789479"/>
            <a:ext cx="237744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F4E79"/>
                </a:solidFill>
              </a:defRPr>
            </a:lvl1pPr>
          </a:lstStyle>
          <a:p>
            <a:pPr/>
            <a:r>
              <a:t>F5 · Sistematización PEI</a:t>
            </a:r>
          </a:p>
        </p:txBody>
      </p:sp>
      <p:sp>
        <p:nvSpPr>
          <p:cNvPr id="414" name="Shape 32"/>
          <p:cNvSpPr/>
          <p:nvPr/>
        </p:nvSpPr>
        <p:spPr>
          <a:xfrm>
            <a:off x="8709659" y="3794759"/>
            <a:ext cx="1682497" cy="237745"/>
          </a:xfrm>
          <a:prstGeom prst="roundRect">
            <a:avLst>
              <a:gd name="adj" fmla="val 19231"/>
            </a:avLst>
          </a:prstGeom>
          <a:solidFill>
            <a:srgbClr val="1F4E7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5" name="Text 33"/>
          <p:cNvSpPr txBox="1"/>
          <p:nvPr/>
        </p:nvSpPr>
        <p:spPr>
          <a:xfrm>
            <a:off x="8755379" y="3799375"/>
            <a:ext cx="1591057" cy="2285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4 sem</a:t>
            </a:r>
          </a:p>
        </p:txBody>
      </p:sp>
      <p:sp>
        <p:nvSpPr>
          <p:cNvPr id="416" name="Shape 34"/>
          <p:cNvSpPr/>
          <p:nvPr/>
        </p:nvSpPr>
        <p:spPr>
          <a:xfrm>
            <a:off x="457199" y="4169664"/>
            <a:ext cx="11292842" cy="384049"/>
          </a:xfrm>
          <a:prstGeom prst="rect">
            <a:avLst/>
          </a:prstGeom>
          <a:solidFill>
            <a:srgbClr val="F7FAF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7" name="Text 35"/>
          <p:cNvSpPr txBox="1"/>
          <p:nvPr/>
        </p:nvSpPr>
        <p:spPr>
          <a:xfrm>
            <a:off x="548639" y="4191815"/>
            <a:ext cx="237744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F4E79"/>
                </a:solidFill>
              </a:defRPr>
            </a:lvl1pPr>
          </a:lstStyle>
          <a:p>
            <a:pPr/>
            <a:r>
              <a:t>F6 · Diplomado en IA</a:t>
            </a:r>
          </a:p>
        </p:txBody>
      </p:sp>
      <p:sp>
        <p:nvSpPr>
          <p:cNvPr id="418" name="Shape 36"/>
          <p:cNvSpPr/>
          <p:nvPr/>
        </p:nvSpPr>
        <p:spPr>
          <a:xfrm>
            <a:off x="6972300" y="4197096"/>
            <a:ext cx="1682496" cy="237745"/>
          </a:xfrm>
          <a:prstGeom prst="roundRect">
            <a:avLst>
              <a:gd name="adj" fmla="val 19231"/>
            </a:avLst>
          </a:prstGeom>
          <a:solidFill>
            <a:srgbClr val="1F4E7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19" name="Text 37"/>
          <p:cNvSpPr txBox="1"/>
          <p:nvPr/>
        </p:nvSpPr>
        <p:spPr>
          <a:xfrm>
            <a:off x="7018019" y="4201712"/>
            <a:ext cx="1591057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4 sem ∥</a:t>
            </a:r>
          </a:p>
        </p:txBody>
      </p:sp>
      <p:sp>
        <p:nvSpPr>
          <p:cNvPr id="420" name="Text 38"/>
          <p:cNvSpPr txBox="1"/>
          <p:nvPr/>
        </p:nvSpPr>
        <p:spPr>
          <a:xfrm>
            <a:off x="548639" y="4594151"/>
            <a:ext cx="237744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F4E79"/>
                </a:solidFill>
              </a:defRPr>
            </a:lvl1pPr>
          </a:lstStyle>
          <a:p>
            <a:pPr/>
            <a:r>
              <a:t>F7 · Adopción</a:t>
            </a:r>
          </a:p>
        </p:txBody>
      </p:sp>
      <p:sp>
        <p:nvSpPr>
          <p:cNvPr id="421" name="Shape 39"/>
          <p:cNvSpPr/>
          <p:nvPr/>
        </p:nvSpPr>
        <p:spPr>
          <a:xfrm>
            <a:off x="10012680" y="4599432"/>
            <a:ext cx="1248157" cy="237745"/>
          </a:xfrm>
          <a:prstGeom prst="roundRect">
            <a:avLst>
              <a:gd name="adj" fmla="val 19231"/>
            </a:avLst>
          </a:prstGeom>
          <a:solidFill>
            <a:srgbClr val="9DB8C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2" name="Text 40"/>
          <p:cNvSpPr txBox="1"/>
          <p:nvPr/>
        </p:nvSpPr>
        <p:spPr>
          <a:xfrm>
            <a:off x="10058400" y="4604048"/>
            <a:ext cx="1156717" cy="228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defRPr b="1" sz="1000">
                <a:solidFill>
                  <a:srgbClr val="FFFFFF"/>
                </a:solidFill>
              </a:defRPr>
            </a:lvl1pPr>
          </a:lstStyle>
          <a:p>
            <a:pPr/>
            <a:r>
              <a:t>3 sem</a:t>
            </a:r>
          </a:p>
        </p:txBody>
      </p:sp>
      <p:sp>
        <p:nvSpPr>
          <p:cNvPr id="423" name="Shape 41"/>
          <p:cNvSpPr/>
          <p:nvPr/>
        </p:nvSpPr>
        <p:spPr>
          <a:xfrm>
            <a:off x="457199" y="4974335"/>
            <a:ext cx="11292842" cy="384049"/>
          </a:xfrm>
          <a:prstGeom prst="rect">
            <a:avLst/>
          </a:prstGeom>
          <a:solidFill>
            <a:srgbClr val="F7FAFD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4" name="Text 42"/>
          <p:cNvSpPr txBox="1"/>
          <p:nvPr/>
        </p:nvSpPr>
        <p:spPr>
          <a:xfrm>
            <a:off x="548639" y="4996487"/>
            <a:ext cx="2377442" cy="2483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b="1" sz="1200">
                <a:solidFill>
                  <a:srgbClr val="1F4E79"/>
                </a:solidFill>
              </a:defRPr>
            </a:lvl1pPr>
          </a:lstStyle>
          <a:p>
            <a:pPr/>
            <a:r>
              <a:t>F8 · Cierre</a:t>
            </a:r>
          </a:p>
        </p:txBody>
      </p:sp>
      <p:sp>
        <p:nvSpPr>
          <p:cNvPr id="425" name="Shape 43"/>
          <p:cNvSpPr/>
          <p:nvPr/>
        </p:nvSpPr>
        <p:spPr>
          <a:xfrm>
            <a:off x="10881359" y="5001767"/>
            <a:ext cx="813817" cy="237745"/>
          </a:xfrm>
          <a:prstGeom prst="roundRect">
            <a:avLst>
              <a:gd name="adj" fmla="val 19231"/>
            </a:avLst>
          </a:prstGeom>
          <a:solidFill>
            <a:srgbClr val="9DB8C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6" name="Shape 44"/>
          <p:cNvSpPr/>
          <p:nvPr/>
        </p:nvSpPr>
        <p:spPr>
          <a:xfrm>
            <a:off x="5134355" y="2203704"/>
            <a:ext cx="201169" cy="201169"/>
          </a:xfrm>
          <a:prstGeom prst="diamond">
            <a:avLst/>
          </a:prstGeom>
          <a:solidFill>
            <a:srgbClr val="BF9000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7" name="Shape 45"/>
          <p:cNvSpPr/>
          <p:nvPr/>
        </p:nvSpPr>
        <p:spPr>
          <a:xfrm>
            <a:off x="11215116" y="4617720"/>
            <a:ext cx="201169" cy="201169"/>
          </a:xfrm>
          <a:prstGeom prst="diamond">
            <a:avLst/>
          </a:prstGeom>
          <a:solidFill>
            <a:srgbClr val="BF9000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8" name="Shape 46"/>
          <p:cNvSpPr/>
          <p:nvPr/>
        </p:nvSpPr>
        <p:spPr>
          <a:xfrm>
            <a:off x="502919" y="5568696"/>
            <a:ext cx="256033" cy="182881"/>
          </a:xfrm>
          <a:prstGeom prst="roundRect">
            <a:avLst>
              <a:gd name="adj" fmla="val 15000"/>
            </a:avLst>
          </a:prstGeom>
          <a:solidFill>
            <a:srgbClr val="1F4E79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29" name="Text 47"/>
          <p:cNvSpPr txBox="1"/>
          <p:nvPr/>
        </p:nvSpPr>
        <p:spPr>
          <a:xfrm>
            <a:off x="868680" y="5547282"/>
            <a:ext cx="201168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404040"/>
                </a:solidFill>
              </a:defRPr>
            </a:lvl1pPr>
          </a:lstStyle>
          <a:p>
            <a:pPr/>
            <a:r>
              <a:t>Genera artefacto</a:t>
            </a:r>
          </a:p>
        </p:txBody>
      </p:sp>
      <p:sp>
        <p:nvSpPr>
          <p:cNvPr id="430" name="Shape 48"/>
          <p:cNvSpPr/>
          <p:nvPr/>
        </p:nvSpPr>
        <p:spPr>
          <a:xfrm>
            <a:off x="2926079" y="5568696"/>
            <a:ext cx="256033" cy="182881"/>
          </a:xfrm>
          <a:prstGeom prst="roundRect">
            <a:avLst>
              <a:gd name="adj" fmla="val 15000"/>
            </a:avLst>
          </a:prstGeom>
          <a:solidFill>
            <a:srgbClr val="9DB8CF"/>
          </a:solidFill>
          <a:ln w="12700">
            <a:miter lim="400000"/>
          </a:ln>
        </p:spPr>
        <p:txBody>
          <a:bodyPr lIns="45719" rIns="45719"/>
          <a:lstStyle/>
          <a:p>
            <a:pPr/>
          </a:p>
        </p:txBody>
      </p:sp>
      <p:sp>
        <p:nvSpPr>
          <p:cNvPr id="431" name="Text 49"/>
          <p:cNvSpPr txBox="1"/>
          <p:nvPr/>
        </p:nvSpPr>
        <p:spPr>
          <a:xfrm>
            <a:off x="3291840" y="5547282"/>
            <a:ext cx="228600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404040"/>
                </a:solidFill>
              </a:defRPr>
            </a:lvl1pPr>
          </a:lstStyle>
          <a:p>
            <a:pPr/>
            <a:r>
              <a:t>Proceso / gobernanza</a:t>
            </a:r>
          </a:p>
        </p:txBody>
      </p:sp>
      <p:sp>
        <p:nvSpPr>
          <p:cNvPr id="432" name="Shape 50"/>
          <p:cNvSpPr/>
          <p:nvPr/>
        </p:nvSpPr>
        <p:spPr>
          <a:xfrm>
            <a:off x="5705855" y="5559552"/>
            <a:ext cx="201169" cy="201169"/>
          </a:xfrm>
          <a:prstGeom prst="diamond">
            <a:avLst/>
          </a:prstGeom>
          <a:solidFill>
            <a:srgbClr val="BF9000"/>
          </a:solidFill>
          <a:ln w="12700">
            <a:solidFill>
              <a:srgbClr val="FFFF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33" name="Text 51"/>
          <p:cNvSpPr txBox="1"/>
          <p:nvPr/>
        </p:nvSpPr>
        <p:spPr>
          <a:xfrm>
            <a:off x="6080760" y="5547282"/>
            <a:ext cx="155448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404040"/>
                </a:solidFill>
              </a:defRPr>
            </a:lvl1pPr>
          </a:lstStyle>
          <a:p>
            <a:pPr/>
            <a:r>
              <a:t>Hito clave</a:t>
            </a:r>
          </a:p>
        </p:txBody>
      </p:sp>
      <p:sp>
        <p:nvSpPr>
          <p:cNvPr id="434" name="Text 52"/>
          <p:cNvSpPr txBox="1"/>
          <p:nvPr/>
        </p:nvSpPr>
        <p:spPr>
          <a:xfrm>
            <a:off x="7818119" y="5547282"/>
            <a:ext cx="2651761" cy="2257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i="1" sz="1100">
                <a:solidFill>
                  <a:srgbClr val="404040"/>
                </a:solidFill>
              </a:defRPr>
            </a:lvl1pPr>
          </a:lstStyle>
          <a:p>
            <a:pPr/>
            <a:r>
              <a:t>∥  = fases en paralelo</a:t>
            </a:r>
          </a:p>
        </p:txBody>
      </p:sp>
      <p:sp>
        <p:nvSpPr>
          <p:cNvPr id="435" name="Text 53"/>
          <p:cNvSpPr txBox="1"/>
          <p:nvPr/>
        </p:nvSpPr>
        <p:spPr>
          <a:xfrm>
            <a:off x="548639" y="5940617"/>
            <a:ext cx="10881361" cy="261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BF9000"/>
                </a:solidFill>
              </a:defRPr>
            </a:lvl1pPr>
          </a:lstStyle>
          <a:p>
            <a:pPr/>
            <a:r>
              <a:t>◆ Semana 5: decisión sobre el carácter de la Media (académica o técnica)</a:t>
            </a:r>
          </a:p>
        </p:txBody>
      </p:sp>
      <p:sp>
        <p:nvSpPr>
          <p:cNvPr id="436" name="Text 54"/>
          <p:cNvSpPr txBox="1"/>
          <p:nvPr/>
        </p:nvSpPr>
        <p:spPr>
          <a:xfrm>
            <a:off x="548639" y="6196649"/>
            <a:ext cx="10881361" cy="2619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BF9000"/>
                </a:solidFill>
              </a:defRPr>
            </a:lvl1pPr>
          </a:lstStyle>
          <a:p>
            <a:pPr/>
            <a:r>
              <a:t>◆ Semana 19: adopción del PEI por resolución rectoral</a:t>
            </a:r>
          </a:p>
        </p:txBody>
      </p:sp>
      <p:sp>
        <p:nvSpPr>
          <p:cNvPr id="437" name="Text 55"/>
          <p:cNvSpPr txBox="1"/>
          <p:nvPr/>
        </p:nvSpPr>
        <p:spPr>
          <a:xfrm>
            <a:off x="502919" y="6480723"/>
            <a:ext cx="722376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900">
                <a:solidFill>
                  <a:srgbClr val="9AA6B2"/>
                </a:solidFill>
              </a:defRPr>
            </a:lvl1pPr>
          </a:lstStyle>
          <a:p>
            <a:pPr/>
            <a:r>
              <a:t>EICIT · Acompañamiento al PEI de ENSMA</a:t>
            </a:r>
          </a:p>
        </p:txBody>
      </p:sp>
      <p:sp>
        <p:nvSpPr>
          <p:cNvPr id="438" name="Text 56"/>
          <p:cNvSpPr txBox="1"/>
          <p:nvPr/>
        </p:nvSpPr>
        <p:spPr>
          <a:xfrm>
            <a:off x="11384279" y="6480723"/>
            <a:ext cx="365761" cy="2059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r">
              <a:defRPr sz="900">
                <a:solidFill>
                  <a:srgbClr val="9AA6B2"/>
                </a:solidFill>
              </a:defRPr>
            </a:lvl1pPr>
          </a:lstStyle>
          <a:p>
            <a:pPr/>
            <a:r>
              <a:t>7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0" name="Logo eicit_color info .png" descr="Logo eicit_color info .png"/>
          <p:cNvPicPr>
            <a:picLocks noChangeAspect="1"/>
          </p:cNvPicPr>
          <p:nvPr/>
        </p:nvPicPr>
        <p:blipFill>
          <a:blip r:embed="rId2">
            <a:extLst/>
          </a:blip>
          <a:srcRect l="0" t="0" r="0" b="0"/>
          <a:stretch>
            <a:fillRect/>
          </a:stretch>
        </p:blipFill>
        <p:spPr>
          <a:xfrm>
            <a:off x="3143160" y="2253342"/>
            <a:ext cx="6578601" cy="25336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