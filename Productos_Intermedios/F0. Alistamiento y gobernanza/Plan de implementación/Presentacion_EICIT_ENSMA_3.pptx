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E75B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200400" cy="3200400"/>
          </a:xfrm>
          <a:prstGeom prst="ellipse">
            <a:avLst/>
          </a:prstGeom>
          <a:solidFill>
            <a:srgbClr val="BF9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— ESCUELA IBEROAMERICANA DE CIENCIAS TÉCNICAS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 a la actualización del PEI de la ENSMA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metodológica y plan de trabajo — modelo pedagógico, PEI, mallas curriculares y Diplomado en 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2011680" cy="4572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marco del Convenio EICIT–ENSMA y de la Circular 0064 de 2026 de la Secretaría de Educación de Soacha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para aprobación de supervisión · Soacha,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nos pidieron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tareas: una contiene a la otra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F4F8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mayor (Compromiso 2)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metodológica para acompañar la renovación de: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pedagógico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completo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Mallas curriculares (fases, tiempos, equipo, articulación con el carisma)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del Diplomado en IA (contenidos, horas, metodología)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F4E79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736092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contenida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las sugerencias para incorporar innovación y tecnología en el plan de estudios.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9319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capítulo aparte: es un hilo que se teje en el modelo y en las mallas, y que nace del propio carisma salesiano.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duda: ¿seguimos la Circular 0064 o solo el encargo?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F90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disyuntiva. La Circular no compite con el encargo: lo enmarca y lo hace viable. Hay que incorporarla.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70048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70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508760" y="253288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 está obligada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53288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Circular aplica a toda IE privada de Preescolar, Básica y Media de Soacha. No es opcional.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630168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508760" y="349300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la ruta no es adoptable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4930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PEI debe pasar por Consejo Académico, Consejo Directivo y resolución rectoral (Decreto 1075).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90288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90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508760" y="445312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acompaña, ENSMA adopta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45312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no 'renueva el PEI'; da asistencia técnica. Esto honra el Compromiso 6 (autonomía).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50408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50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508760" y="541324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regala insumos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541324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2024–2026, estructura de 5 capítulos, plantilla oficial y ventana 2026–2027.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presentamos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 técnica externa al proceso que ya define la Circular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Propone, diseña, acompaña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capacidad técnica y formación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el trámite, no lo decide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301752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BF900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7490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 con sus estamentos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(Consejo Directivo)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 por resolución rectoral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7607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trabajo, posicionamiento que blinda a EICIT y respeta la autonomía salesiana.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preliminar del PEI actual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hallazgos que hacen que el encargo sea sustancial, no cosmético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Mallas 'en construcción'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PEI dice que los planes de estudio están sin terminar. Es el núcleo exigido.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828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¿Media académica o técnica?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se contradice. Si es técnica: trámite de modificación de licencia.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288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828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83880" y="2331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no operacionalizado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83880" y="2926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software se enuncian, pero no hay línea curricular ni horas ni progresión.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2024–2026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leyes de socioemocional, entornos digitales, IA, gestión del riesgo.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51960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BF9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251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forma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80560" y="5349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 páginas, hoja oficio, anexos a Drive, numeración con saltos y duplicados.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42519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BF9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4251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ya figura en el PEI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183880" y="5349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Ubicarlo en 'Servicios complementarios' como comodato, sin sugerir cobros.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plan de trabajo: 9 fases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corresponde a un paso de la ruta oficial de la Circular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67128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Alistamiento y gobernanza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33672" y="1828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552" y="2167128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416552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12" dirty="0"/>
          </a:p>
        </p:txBody>
      </p:sp>
      <p:sp>
        <p:nvSpPr>
          <p:cNvPr id="11" name="Text 9"/>
          <p:cNvSpPr/>
          <p:nvPr/>
        </p:nvSpPr>
        <p:spPr>
          <a:xfrm>
            <a:off x="5148072" y="19202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integral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18704" y="1828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2167128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8101584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8833104" y="19202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referentes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1463040" y="32735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pedagógico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33672" y="3182112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3520440"/>
            <a:ext cx="566928" cy="5669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416552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12" dirty="0"/>
          </a:p>
        </p:txBody>
      </p:sp>
      <p:sp>
        <p:nvSpPr>
          <p:cNvPr id="23" name="Text 21"/>
          <p:cNvSpPr/>
          <p:nvPr/>
        </p:nvSpPr>
        <p:spPr>
          <a:xfrm>
            <a:off x="5148072" y="32735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curricular y mallas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18704" y="3182112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3520440"/>
            <a:ext cx="566928" cy="5669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101584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12" dirty="0"/>
          </a:p>
        </p:txBody>
      </p:sp>
      <p:sp>
        <p:nvSpPr>
          <p:cNvPr id="27" name="Text 25"/>
          <p:cNvSpPr/>
          <p:nvPr/>
        </p:nvSpPr>
        <p:spPr>
          <a:xfrm>
            <a:off x="8833104" y="32735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Sistematización en el PEI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535424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873752"/>
            <a:ext cx="566928" cy="5669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73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12" dirty="0"/>
          </a:p>
        </p:txBody>
      </p:sp>
      <p:sp>
        <p:nvSpPr>
          <p:cNvPr id="31" name="Text 29"/>
          <p:cNvSpPr/>
          <p:nvPr/>
        </p:nvSpPr>
        <p:spPr>
          <a:xfrm>
            <a:off x="1463040" y="462686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IA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33672" y="4535424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16552" y="487375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4416552" y="4873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12" dirty="0"/>
          </a:p>
        </p:txBody>
      </p:sp>
      <p:sp>
        <p:nvSpPr>
          <p:cNvPr id="35" name="Text 33"/>
          <p:cNvSpPr/>
          <p:nvPr/>
        </p:nvSpPr>
        <p:spPr>
          <a:xfrm>
            <a:off x="5148072" y="462686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Deliberación y adopción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918704" y="4535424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01584" y="487375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8101584" y="4873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12" dirty="0"/>
          </a:p>
        </p:txBody>
      </p:sp>
      <p:sp>
        <p:nvSpPr>
          <p:cNvPr id="39" name="Text 37"/>
          <p:cNvSpPr/>
          <p:nvPr/>
        </p:nvSpPr>
        <p:spPr>
          <a:xfrm>
            <a:off x="8833104" y="462686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sostenibilidad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Fases donde nacen los 4 artefactos entregables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 ejecución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semanas · el color indica quién lidera cada fase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63240" y="1490472"/>
            <a:ext cx="0" cy="3913632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0604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00600" y="1490472"/>
            <a:ext cx="0" cy="3913632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37960" y="1490472"/>
            <a:ext cx="0" cy="3913632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75320" y="1490472"/>
            <a:ext cx="0" cy="3913632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12680" y="1490472"/>
            <a:ext cx="0" cy="3913632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548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750040" y="1490472"/>
            <a:ext cx="0" cy="3913632"/>
          </a:xfrm>
          <a:prstGeom prst="line">
            <a:avLst/>
          </a:prstGeom>
          <a:noFill/>
          <a:ln w="12700">
            <a:solidFill>
              <a:srgbClr val="D5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92840" y="1216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55648"/>
            <a:ext cx="11292840" cy="384048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7556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· Alistamiento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63240" y="1783080"/>
            <a:ext cx="813816" cy="237744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1783080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1579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Diagnóstico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063240" y="2185416"/>
            <a:ext cx="1682496" cy="237744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218541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11292840" cy="384048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560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Referentes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931920" y="2587752"/>
            <a:ext cx="1682496" cy="237744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2587752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9626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Modelo pedagógico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2990088"/>
            <a:ext cx="1682496" cy="237744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990088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364992"/>
            <a:ext cx="11292840" cy="384048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364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Currículo y mallas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0" y="3392424"/>
            <a:ext cx="3419856" cy="237744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3392424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767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Ajuste del PEI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3794760"/>
            <a:ext cx="2551176" cy="237744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3794760"/>
            <a:ext cx="2551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69664"/>
            <a:ext cx="11292840" cy="384048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169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Diplomado en IA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00600" y="4197096"/>
            <a:ext cx="3419856" cy="237744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197096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4572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· Adopción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144000" y="4599432"/>
            <a:ext cx="1682496" cy="237744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0" y="4599432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974336"/>
            <a:ext cx="11292840" cy="384048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974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· Cierre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0012680" y="5001768"/>
            <a:ext cx="1682496" cy="237744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/>
        </p:spPr>
      </p:sp>
      <p:sp>
        <p:nvSpPr>
          <p:cNvPr id="47" name="Text 45"/>
          <p:cNvSpPr/>
          <p:nvPr/>
        </p:nvSpPr>
        <p:spPr>
          <a:xfrm>
            <a:off x="10012680" y="5001768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0016" y="2203704"/>
            <a:ext cx="201168" cy="201168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80776" y="4617720"/>
            <a:ext cx="201168" cy="201168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" y="5550408"/>
            <a:ext cx="237744" cy="173736"/>
          </a:xfrm>
          <a:prstGeom prst="roundRect">
            <a:avLst>
              <a:gd name="adj" fmla="val 15789"/>
            </a:avLst>
          </a:prstGeom>
          <a:solidFill>
            <a:srgbClr val="1F4E79"/>
          </a:solidFill>
          <a:ln/>
        </p:spPr>
      </p:sp>
      <p:sp>
        <p:nvSpPr>
          <p:cNvPr id="51" name="Text 49"/>
          <p:cNvSpPr/>
          <p:nvPr/>
        </p:nvSpPr>
        <p:spPr>
          <a:xfrm>
            <a:off x="804672" y="5504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lidera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423160" y="5550408"/>
            <a:ext cx="237744" cy="173736"/>
          </a:xfrm>
          <a:prstGeom prst="roundRect">
            <a:avLst>
              <a:gd name="adj" fmla="val 15789"/>
            </a:avLst>
          </a:prstGeom>
          <a:solidFill>
            <a:srgbClr val="2E75B6"/>
          </a:solidFill>
          <a:ln/>
        </p:spPr>
      </p:sp>
      <p:sp>
        <p:nvSpPr>
          <p:cNvPr id="53" name="Text 51"/>
          <p:cNvSpPr/>
          <p:nvPr/>
        </p:nvSpPr>
        <p:spPr>
          <a:xfrm>
            <a:off x="2724912" y="5504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ENSMA lidera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5550408"/>
            <a:ext cx="237744" cy="173736"/>
          </a:xfrm>
          <a:prstGeom prst="roundRect">
            <a:avLst>
              <a:gd name="adj" fmla="val 15789"/>
            </a:avLst>
          </a:prstGeom>
          <a:solidFill>
            <a:srgbClr val="9DB8CF"/>
          </a:solidFill>
          <a:ln/>
        </p:spPr>
      </p:sp>
      <p:sp>
        <p:nvSpPr>
          <p:cNvPr id="55" name="Text 53"/>
          <p:cNvSpPr/>
          <p:nvPr/>
        </p:nvSpPr>
        <p:spPr>
          <a:xfrm>
            <a:off x="4736592" y="5504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/ coordinación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629400" y="5541264"/>
            <a:ext cx="182880" cy="182880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5504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clave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5861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indica quién LIDERA; el apoyo del otro actor se detalla en la matriz de responsabilidades.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02920" y="609904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2: ENSMA decide el carácter de la Media (académica o técnica)   ·   Semana 9: adopción del PEI por resolución rectoral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responsabilidades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lidera, quién apoya y qué se entrega en cada fase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343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de apoyo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 principal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· Alistamiento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F9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ENSMA convoca el equipo gestor; EICIT facilita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Acta, cronograma, matriz de insumos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· Diagnóstico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ENSMA aporta insumos y decide el carácter de la 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y brechas del plan de estudios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· Referentes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F9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EICIT co-anima; participan directivos y docentes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Fichas de referentes (Circular 0064)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· Modelo pedagógico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EICIT interviene solo en los capítulos de innovación y tecnología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con componente tecnológico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· Currículo y mallas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y departamentos; EICIT asesora la línea tecnológica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Mallas con progresión de innovación/tec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 · Ajuste del PEI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EICIT aporta insumos y verifica coherencia con la plantilla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PEI ajustado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 · Diplomado en 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ENSMA facilita la participación docente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del Diplomado en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 · Adopción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Gobierno escolar; EICIT da soporte documental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rectoral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 · 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F9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EICIT transfiere capacidades; ENSMA sostiene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de sostenibilidad 2026-2027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vamos a producir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artefactos entregables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914400" cy="9144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pedagógico renovado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Injerto tecnológico coherente con el Sistema Preventivo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01168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8952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actualizado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plantilla oficial y los 5 capítulos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43400"/>
            <a:ext cx="914400" cy="91440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43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1168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Mallas curriculares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1680" y="4892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línea de innovación y tecnología de Transición a 11.°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5577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977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34340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343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58952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IA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4892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Contenidos, intensidad horaria, metodología y evaluación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5577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E75B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diferenciador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tecnología nace del carisma, no se pega encima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servicio de la persona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4436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 con su humanismo cristiano (Freire, Habermas, Vygotsky).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468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tecnológico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94436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 su valor institucional 11; el componente digital lo hace concreto.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519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Educar en positivo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7274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protagonismo juvenil: crear, no solo consumir.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0690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2519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Preventividad digital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7274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'Prevenir mejor que corregir' = entornos digitales seguros (Directiva MEN 01/2026).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la ENSMA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 que tenemos alcanza para el diagnóstico; no para producir los artefactos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923544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PEI editable + anexos hoy solo enlazados en Drive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real de las mallas / planes de estudio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Definición: ¿Media académica con énfasis o técnica?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SIEE, Manual de Convivencia, PMI, POA, Guía 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del equipo gestor del PEI y gobierno escolar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Caracterización y competencias digitales docentes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Convenio SENA · Pruebas Saber · inventario tecnológico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F9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doctrinales (PEPS, líneas FMA) · calendario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F9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y riesgo a vigilar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EICIT asignado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proceso / enlace PEI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en currículo EPBM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099816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0998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STEAM / 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758184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7581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 situado de docentes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41655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4165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administrativo / soporte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7373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4F8FC"/>
          </a:solidFill>
          <a:ln w="19050">
            <a:solidFill>
              <a:srgbClr val="BF9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Riesgo principal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75120" y="25146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ENSMA no conforme el equipo gestor o no entregue los insumos a tiempo, y que las mallas estén casi desde cero.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41148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gobernanza en Fase 0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insumos con responsables y fechas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temprana sobre la Media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al PEI de ENSMA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389120"/>
            <a:ext cx="3291840" cy="3291840"/>
          </a:xfrm>
          <a:prstGeom prst="ellipse">
            <a:avLst/>
          </a:prstGeom>
          <a:solidFill>
            <a:srgbClr val="BF9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decidimos hoy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inmediatos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encuadre de asistencia técnica y este plan de trabajo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035808"/>
            <a:ext cx="548640" cy="5486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35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1600200" y="30358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Radicar ante ENSMA la solicitud de insumos (prioridad alta)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785616"/>
            <a:ext cx="548640" cy="5486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85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600200" y="378561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la conformación del equipo gestor del PEI (Fase 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535424"/>
            <a:ext cx="548640" cy="5486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600200" y="453542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Convocar la definición sobre el carácter de la Media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5285232"/>
            <a:ext cx="548640" cy="5486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85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1600200" y="52852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diagnóstico (Fase 1) y, en paralelo, el diseño del Diplomado en IA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2026-08-11T19:56:17Z</dcterms:created>
  <dcterms:modified xsi:type="dcterms:W3CDTF">2026-08-11T19:56:17Z</dcterms:modified>
</cp:coreProperties>
</file>