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16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Cumple</c:v>
                </c:pt>
              </c:strCache>
            </c:strRef>
          </c:tx>
          <c:spPr>
            <a:solidFill>
              <a:srgbClr val="6AA84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C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1. Identidad</c:v>
                </c:pt>
                <c:pt idx="1">
                  <c:v>2. Directiva</c:v>
                </c:pt>
                <c:pt idx="2">
                  <c:v>3. Académica</c:v>
                </c:pt>
                <c:pt idx="3">
                  <c:v>4. Comunidad</c:v>
                </c:pt>
                <c:pt idx="4">
                  <c:v>5. Admin. y Fin.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1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30-0F4B-9A0A-3694DB3E21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Parcial</c:v>
                </c:pt>
              </c:strCache>
            </c:strRef>
          </c:tx>
          <c:spPr>
            <a:solidFill>
              <a:srgbClr val="E6A81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C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1. Identidad</c:v>
                </c:pt>
                <c:pt idx="1">
                  <c:v>2. Directiva</c:v>
                </c:pt>
                <c:pt idx="2">
                  <c:v>3. Académica</c:v>
                </c:pt>
                <c:pt idx="3">
                  <c:v>4. Comunidad</c:v>
                </c:pt>
                <c:pt idx="4">
                  <c:v>5. Admin. y Fin.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1</c:v>
                </c:pt>
                <c:pt idx="2">
                  <c:v>3</c:v>
                </c:pt>
                <c:pt idx="3">
                  <c:v>3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30-0F4B-9A0A-3694DB3E217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Ausente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C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1. Identidad</c:v>
                </c:pt>
                <c:pt idx="1">
                  <c:v>2. Directiva</c:v>
                </c:pt>
                <c:pt idx="2">
                  <c:v>3. Académica</c:v>
                </c:pt>
                <c:pt idx="3">
                  <c:v>4. Comunidad</c:v>
                </c:pt>
                <c:pt idx="4">
                  <c:v>5. Admin. y Fin.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</c:v>
                </c:pt>
                <c:pt idx="1">
                  <c:v>0</c:v>
                </c:pt>
                <c:pt idx="2">
                  <c:v>2</c:v>
                </c:pt>
                <c:pt idx="3">
                  <c:v>1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130-0F4B-9A0A-3694DB3E217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Por enlace/verif.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C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1. Identidad</c:v>
                </c:pt>
                <c:pt idx="1">
                  <c:v>2. Directiva</c:v>
                </c:pt>
                <c:pt idx="2">
                  <c:v>3. Académica</c:v>
                </c:pt>
                <c:pt idx="3">
                  <c:v>4. Comunidad</c:v>
                </c:pt>
                <c:pt idx="4">
                  <c:v>5. Admin. y Fin.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130-0F4B-9A0A-3694DB3E217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No aplica</c:v>
                </c:pt>
              </c:strCache>
            </c:strRef>
          </c:tx>
          <c:spPr>
            <a:solidFill>
              <a:srgbClr val="9AA0A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C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1. Identidad</c:v>
                </c:pt>
                <c:pt idx="1">
                  <c:v>2. Directiva</c:v>
                </c:pt>
                <c:pt idx="2">
                  <c:v>3. Académica</c:v>
                </c:pt>
                <c:pt idx="3">
                  <c:v>4. Comunidad</c:v>
                </c:pt>
                <c:pt idx="4">
                  <c:v>5. Admin. y Fin.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130-0F4B-9A0A-3694DB3E217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2222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1254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Iberoamericana de Ciencias Técnicas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brechas del PEI vigente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a la plantilla oficial de la Secretaría de Educación de Soacha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4160520"/>
            <a:ext cx="3840480" cy="0"/>
          </a:xfrm>
          <a:prstGeom prst="line">
            <a:avLst/>
          </a:prstGeom>
          <a:noFill/>
          <a:ln w="31750">
            <a:solidFill>
              <a:srgbClr val="BF9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40080" y="438912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para directivos
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Normal Superior / Colegio María Auxiliadora de Soacha (ENSMA)
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1.2.2 · Circular 0064 de 2026 · Agosto de 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6309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D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técnico de EICIT para la deliberación de la ENSMA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56032" cy="256032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10058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Y ENCUADRE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este análisis y cómo se usa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F4F8FC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429000" cy="10972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Identificar, ítem por ítem, las brechas del PEI vigente frente a los cinco capítulos de la plantilla oficial: Identidad Institucional y las cuatro áreas de gestión.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F4F8FC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3429000" cy="10972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572000" y="2194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trabajo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269748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 propone, diseña y acompaña. La ENSMA delibera, decide y adopta (Consejo Académico → Consejo Directivo → resolución rectoral).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F4F8FC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429000" cy="109728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275320" y="2194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75320" y="269748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Cotejo documental técnico e indicativo, respetando la autonomía curricular y la identidad salesiana de la institución.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303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Insumos: PEI vigente (Word, entregado por la ENSMA)  ·  Plantilla Guía SEM 2026–2027.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  ·  Acompañamiento a la actualización del PEI — ENSMA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82735" y="6473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1.2.2   |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56032" cy="256032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10058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LEYÓ CADA ÍTEM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valoración (semáforo) y carácter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cada ítem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AA84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051560" y="2286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  </a:t>
            </a: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 y desarrollado conforme a la plantilla.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986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6A81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051560" y="285292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  </a:t>
            </a: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 pero incompleto, desactualizado o inconsistente.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46557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C0504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051560" y="341985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  </a:t>
            </a: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incluido en el PEI vigente.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03250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1051560" y="398678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enlace / verificar  </a:t>
            </a: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Remitido a anexo o enlace; sujeto a verificación de acceso.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59943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9AA0A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1051560" y="455371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aplica  </a:t>
            </a: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no ofrecido; procede declararlo.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1828800"/>
            <a:ext cx="4937760" cy="3291840"/>
          </a:xfrm>
          <a:prstGeom prst="roundRect">
            <a:avLst>
              <a:gd name="adj" fmla="val 2222"/>
            </a:avLst>
          </a:prstGeom>
          <a:solidFill>
            <a:srgbClr val="F4F8FC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85800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Carácter normativo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0" y="2468880"/>
            <a:ext cx="44805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Obligatorio
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legal (Ley 115, Decreto 1075, decretos y resoluciones). Su incumplimiento afecta la conformidad del PEI.
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
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34, lineamientos SEM y buenas prácticas. Fortalece la calidad del PEI.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  ·  Acompañamiento a la actualización del PEI — ENSMA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082735" y="6473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1.2.2   |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56032" cy="256032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10058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GENERAL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por capítulo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1737360"/>
          <a:ext cx="74066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182880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4F8FC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8549640" y="192024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601200" y="196596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ítems evaluados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412480" y="324612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4F8FC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8549640" y="333756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9601200" y="338328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ausencias obligatorias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412480" y="466344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4F8FC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8549640" y="475488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9601200" y="480060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verificar (enlaces)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  ·  Acompañamiento a la actualización del PEI — ENSMA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082735" y="6473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1.2.2   |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56032" cy="256032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10058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ESTRATÉGICA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brechas se agrupan en tres frentes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254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914400" y="2194560"/>
            <a:ext cx="640080" cy="640080"/>
          </a:xfrm>
          <a:prstGeom prst="ellipse">
            <a:avLst/>
          </a:prstGeom>
          <a:solidFill>
            <a:srgbClr val="C0504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96112" y="2971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Académicas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361188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de estudio y mallas “en construcción”. La Fase 4 es una construcción desde cero, supeditada a validar el modelo pedagógico (Fase 3).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254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617720" y="2194560"/>
            <a:ext cx="640080" cy="640080"/>
          </a:xfrm>
          <a:prstGeom prst="ellipse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61772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99432" y="2971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gobierno y trámite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99432" y="361188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el capítulo de Gobierno Escolar y el proceso de validación de grados; datos generales incompletos (NIT, DANE, jornada).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46720" y="192024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254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8321040" y="2194560"/>
            <a:ext cx="640080" cy="64008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832104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302752" y="2971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Estratégicas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02752" y="361188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Carácter de la media sin definir y denominación institucional en transición, ligados a la línea paralela de modificación de licencia.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  ·  Acompañamiento a la actualización del PEI — ENSMA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082735" y="6473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1.2.2   |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56032" cy="256032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10058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DE ATENCIÓN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Brechas obligatorias que hay que cerrar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57800" cy="1170432"/>
          </a:xfrm>
          <a:prstGeom prst="roundRect">
            <a:avLst>
              <a:gd name="adj" fmla="val 4688"/>
            </a:avLst>
          </a:prstGeom>
          <a:solidFill>
            <a:srgbClr val="F4F8FC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91440" cy="1170432"/>
          </a:xfrm>
          <a:prstGeom prst="rect">
            <a:avLst/>
          </a:prstGeom>
          <a:solidFill>
            <a:srgbClr val="C0504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96112" y="19842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de estudio y mallas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3774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construcción; sin tabla de intensidad horaria utilizable.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98424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1874520"/>
            <a:ext cx="5257800" cy="1170432"/>
          </a:xfrm>
          <a:prstGeom prst="roundRect">
            <a:avLst>
              <a:gd name="adj" fmla="val 4688"/>
            </a:avLst>
          </a:prstGeom>
          <a:solidFill>
            <a:srgbClr val="F4F8FC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6172200" y="1874520"/>
            <a:ext cx="91440" cy="1170432"/>
          </a:xfrm>
          <a:prstGeom prst="rect">
            <a:avLst/>
          </a:prstGeom>
          <a:solidFill>
            <a:srgbClr val="C0504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428232" y="19842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Escolar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28232" y="23774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capítulo de órganos, funciones e integración.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332720" y="198424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200400"/>
            <a:ext cx="5257800" cy="1170432"/>
          </a:xfrm>
          <a:prstGeom prst="roundRect">
            <a:avLst>
              <a:gd name="adj" fmla="val 4688"/>
            </a:avLst>
          </a:prstGeom>
          <a:solidFill>
            <a:srgbClr val="F4F8FC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640080" y="3200400"/>
            <a:ext cx="91440" cy="1170432"/>
          </a:xfrm>
          <a:prstGeom prst="rect">
            <a:avLst/>
          </a:prstGeom>
          <a:solidFill>
            <a:srgbClr val="C0504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896112" y="33101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grados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96112" y="370332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incorporado (Resolución SEM 0644/2026).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31012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3200400"/>
            <a:ext cx="5257800" cy="1170432"/>
          </a:xfrm>
          <a:prstGeom prst="roundRect">
            <a:avLst>
              <a:gd name="adj" fmla="val 4688"/>
            </a:avLst>
          </a:prstGeom>
          <a:solidFill>
            <a:srgbClr val="F4F8FC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6172200" y="3200400"/>
            <a:ext cx="91440" cy="1170432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6428232" y="33101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Carácter de la educación media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28232" y="370332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contradictoria; denominación provisional.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332720" y="331012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4526280"/>
            <a:ext cx="5257800" cy="1170432"/>
          </a:xfrm>
          <a:prstGeom prst="roundRect">
            <a:avLst>
              <a:gd name="adj" fmla="val 4688"/>
            </a:avLst>
          </a:prstGeom>
          <a:solidFill>
            <a:srgbClr val="F4F8FC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640080" y="4526280"/>
            <a:ext cx="91440" cy="1170432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896112" y="46360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generales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96112" y="50292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 NIT, código DANE y detalle de jornada.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463600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72200" y="4526280"/>
            <a:ext cx="5257800" cy="1170432"/>
          </a:xfrm>
          <a:prstGeom prst="roundRect">
            <a:avLst>
              <a:gd name="adj" fmla="val 4688"/>
            </a:avLst>
          </a:prstGeom>
          <a:solidFill>
            <a:srgbClr val="F4F8FC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6172200" y="4526280"/>
            <a:ext cx="91440" cy="117043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6428232" y="46360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Enlaces con muro de acceso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28232" y="50292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Anexos en Drive con inicio de sesión; se exige acceso libre.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332720" y="463600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  ·  Acompañamiento a la actualización del PEI — ENSMA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082735" y="6473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1.2.2   |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56032" cy="256032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10058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CORAZÓN DEL PEI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</a:t>
            </a: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Académica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secuencia no se puede saltar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383280" cy="2834640"/>
          </a:xfrm>
          <a:prstGeom prst="roundRect">
            <a:avLst>
              <a:gd name="adj" fmla="val 3226"/>
            </a:avLst>
          </a:prstGeom>
          <a:solidFill>
            <a:srgbClr val="F4F8FC"/>
          </a:solidFill>
          <a:ln w="254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383280" cy="5029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el modelo pedagógico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3611880"/>
            <a:ext cx="29718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Prerrequisito. Hoy formulado pero sin validación formal de las instancias.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950208" y="33832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4434840" y="2331720"/>
            <a:ext cx="3383280" cy="2834640"/>
          </a:xfrm>
          <a:prstGeom prst="roundRect">
            <a:avLst>
              <a:gd name="adj" fmla="val 3226"/>
            </a:avLst>
          </a:prstGeom>
          <a:solidFill>
            <a:srgbClr val="F4F8FC"/>
          </a:solidFill>
          <a:ln w="25400">
            <a:solidFill>
              <a:srgbClr val="BF9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4434840" y="2331720"/>
            <a:ext cx="3383280" cy="502920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617720" y="23774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63440" y="2971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las mallas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63440" y="3611880"/>
            <a:ext cx="29718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plan, plantilla y mallas por área con intensidad horaria (mín. 1200 h primaria; 1400 h secundaria y media).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44968" y="33832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18" name="Shape 16"/>
          <p:cNvSpPr/>
          <p:nvPr/>
        </p:nvSpPr>
        <p:spPr>
          <a:xfrm>
            <a:off x="8229600" y="2331720"/>
            <a:ext cx="3383280" cy="2834640"/>
          </a:xfrm>
          <a:prstGeom prst="roundRect">
            <a:avLst>
              <a:gd name="adj" fmla="val 3226"/>
            </a:avLst>
          </a:prstGeom>
          <a:solidFill>
            <a:srgbClr val="F4F8FC"/>
          </a:solidFill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8229600" y="2331720"/>
            <a:ext cx="3383280" cy="5029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8412480" y="23774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Radicado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58200" y="2971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PEI conforme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58200" y="3611880"/>
            <a:ext cx="29718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modelo validado y las mallas construidas se cierra la brecha académica mayor.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5440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del proyecto: ninguna malla se diseña sin el modelo pedagógico validado.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  ·  Acompañamiento a la actualización del PEI — ENSMA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082735" y="6473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1.2.2   | 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56032" cy="256032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10058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POR CAPÍTULO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está fuerte y dónde falta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822960" y="2002536"/>
            <a:ext cx="365760" cy="365760"/>
          </a:xfrm>
          <a:prstGeom prst="ellipse">
            <a:avLst/>
          </a:prstGeom>
          <a:solidFill>
            <a:srgbClr val="6AA84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417320" y="187452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Identidad Institucional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94960" y="1874520"/>
            <a:ext cx="5943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presente. Ajustar datos formales y definir el carácter de la media.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670048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4F8FC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822960" y="2843784"/>
            <a:ext cx="365760" cy="365760"/>
          </a:xfrm>
          <a:prstGeom prst="ellipse">
            <a:avLst/>
          </a:prstGeom>
          <a:solidFill>
            <a:srgbClr val="6AA84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417320" y="271576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Gestión Directiva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94960" y="2715768"/>
            <a:ext cx="5943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Sólida. Observaciones de actualización, coherencia y edición.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511296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22960" y="3685032"/>
            <a:ext cx="365760" cy="365760"/>
          </a:xfrm>
          <a:prstGeom prst="ellipse">
            <a:avLst/>
          </a:prstGeom>
          <a:solidFill>
            <a:srgbClr val="C0504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1417320" y="3557016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Gestión Académica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94960" y="3557016"/>
            <a:ext cx="5943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mayor: modelo por validar y mallas por construir.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352544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4F8FC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822960" y="4526280"/>
            <a:ext cx="365760" cy="365760"/>
          </a:xfrm>
          <a:prstGeom prst="ellipse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1417320" y="439826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Gestión de la Comunidad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94960" y="4398264"/>
            <a:ext cx="5943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cubierta. Falta Gobierno Escolar; articulación pendiente.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193792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822960" y="5367528"/>
            <a:ext cx="365760" cy="365760"/>
          </a:xfrm>
          <a:prstGeom prst="ellipse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1417320" y="523951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Admin. y Financiera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94960" y="5239512"/>
            <a:ext cx="5943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cubierta. Falta validación de grados; consolidar duplicidades.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  ·  Acompañamiento a la actualización del PEI — ENSMA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082735" y="6473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1.2.2   | 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56032" cy="256032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10058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DE CIERRE DE BRECHAS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prioridades de trabajo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29000" cy="3794760"/>
          </a:xfrm>
          <a:prstGeom prst="roundRect">
            <a:avLst>
              <a:gd name="adj" fmla="val 2667"/>
            </a:avLst>
          </a:prstGeom>
          <a:solidFill>
            <a:srgbClr val="F4F8FC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429000" cy="685800"/>
          </a:xfrm>
          <a:prstGeom prst="rect">
            <a:avLst/>
          </a:prstGeom>
          <a:solidFill>
            <a:srgbClr val="C0504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68680" y="19019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 — condiciona el radicado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2697480"/>
            <a:ext cx="297180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denominación y carácter de la media (con la línea de licencia).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Gobierno Escolar y validación de grados.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datos generales y liberar el acceso a enlaces.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429000" cy="3794760"/>
          </a:xfrm>
          <a:prstGeom prst="roundRect">
            <a:avLst>
              <a:gd name="adj" fmla="val 2667"/>
            </a:avLst>
          </a:prstGeom>
          <a:solidFill>
            <a:srgbClr val="F4F8FC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343400" y="1828800"/>
            <a:ext cx="3429000" cy="685800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572000" y="19019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194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Académica — depende de F3 → F4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99432" y="2697480"/>
            <a:ext cx="297180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el modelo pedagógico (Fase 3).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mallas con intensidad horaria (Fase 4).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Preescolar y proyectos transversales obligatorios.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1828800"/>
            <a:ext cx="3429000" cy="3794760"/>
          </a:xfrm>
          <a:prstGeom prst="roundRect">
            <a:avLst>
              <a:gd name="adj" fmla="val 2667"/>
            </a:avLst>
          </a:prstGeom>
          <a:solidFill>
            <a:srgbClr val="F4F8FC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8046720" y="1828800"/>
            <a:ext cx="3429000" cy="6858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8275320" y="19019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75320" y="2194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Coherencia y forma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02752" y="2697480"/>
            <a:ext cx="297180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duplicidades y numeración; unificar horizonte.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datos y verificar imágenes.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Declarar “No aplica” donde corresponda; requisitos SEM.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  ·  Acompañamiento a la actualización del PEI — ENSMA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082735" y="6473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1.2.2   | 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DECISIONES ORDENAN TODO EL TRABAJO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la ENSMA debe resolver primero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1600200"/>
          </a:xfrm>
          <a:prstGeom prst="roundRect">
            <a:avLst>
              <a:gd name="adj" fmla="val 5714"/>
            </a:avLst>
          </a:prstGeom>
          <a:solidFill>
            <a:srgbClr val="27568A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960120" y="2697480"/>
            <a:ext cx="777240" cy="777240"/>
          </a:xfrm>
          <a:prstGeom prst="ellipse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60120" y="2697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011680" y="2514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Carácter de la educación media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011680" y="2999232"/>
            <a:ext cx="9235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Académica con profundización o técnica — con su denominación. Ordena la licencia (línea paralela), la articulación (SENA/IES) y la identidad institucional.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10881360" cy="1600200"/>
          </a:xfrm>
          <a:prstGeom prst="roundRect">
            <a:avLst>
              <a:gd name="adj" fmla="val 5714"/>
            </a:avLst>
          </a:prstGeom>
          <a:solidFill>
            <a:srgbClr val="27568A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960120" y="4526280"/>
            <a:ext cx="777240" cy="777240"/>
          </a:xfrm>
          <a:prstGeom prst="ellipse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960120" y="4526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011680" y="4343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del modelo pedagógico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011680" y="4828032"/>
            <a:ext cx="9235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 la construcción de las mallas (Fase 4). Sin modelo validado no hay diseño curricular utilizable.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62910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D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estas dos definiciones, EICIT presentará los diseños para revisión y aprobación de la ENSMA.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56032" cy="256032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10058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diagnóstico a la acción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94360" cy="59436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8562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Socializar este análisis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16712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hallazgos a las instancias de la ENSMA para su deliberación.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32688" y="2468880"/>
            <a:ext cx="0" cy="365760"/>
          </a:xfrm>
          <a:prstGeom prst="line">
            <a:avLst/>
          </a:prstGeom>
          <a:noFill/>
          <a:ln w="25400">
            <a:solidFill>
              <a:srgbClr val="D5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594360" cy="59436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08760" y="28163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las dos decisiones clave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31272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Carácter de la media y validación del modelo pedagógico.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32688" y="3429000"/>
            <a:ext cx="0" cy="365760"/>
          </a:xfrm>
          <a:prstGeom prst="line">
            <a:avLst/>
          </a:prstGeom>
          <a:noFill/>
          <a:ln w="25400">
            <a:solidFill>
              <a:srgbClr val="D5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594360" cy="59436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08760" y="37764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la construcción curricular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08736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plan y mallas (Fase 4), sobre el modelo validado.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32688" y="4389120"/>
            <a:ext cx="0" cy="365760"/>
          </a:xfrm>
          <a:prstGeom prst="line">
            <a:avLst/>
          </a:prstGeom>
          <a:noFill/>
          <a:ln w="25400">
            <a:solidFill>
              <a:srgbClr val="D5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640080" y="4754880"/>
            <a:ext cx="594360" cy="59436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40080" y="4754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08760" y="47365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brechas de gobierno y trámite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8760" y="504748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Escolar, validación de grados, datos generales y enlaces.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80644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4F8FC"/>
          </a:solidFill>
          <a:ln w="12700">
            <a:solidFill>
              <a:srgbClr val="BF9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914400" y="58521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 propone y acompaña; la ENSMA delibera, decide y adopta.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  ·  Acompañamiento a la actualización del PEI — ENSMA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082735" y="6473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1.2.2   |  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</TotalTime>
  <Words>1090</Words>
  <Application>Microsoft Macintosh PowerPoint</Application>
  <PresentationFormat>Panorámica</PresentationFormat>
  <Paragraphs>166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brechas del PEI — ENSMA</dc:title>
  <dc:subject>PptxGenJS Presentation</dc:subject>
  <dc:creator>EICIT IA</dc:creator>
  <cp:lastModifiedBy>MIREYA CASTILLO</cp:lastModifiedBy>
  <cp:revision>2</cp:revision>
  <dcterms:created xsi:type="dcterms:W3CDTF">2026-08-25T14:55:27Z</dcterms:created>
  <dcterms:modified xsi:type="dcterms:W3CDTF">2026-08-26T00:42:44Z</dcterms:modified>
</cp:coreProperties>
</file>