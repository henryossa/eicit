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0" r:id="rId21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pedagógico de la ENSMA, redactado sobre las 15 secciones aprobadas por el Consejo Directivo. EICIT propone; la ENSMA delibera y adopta.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documento traduce la estructura aprobada en modelo. Se preserva el rol de EICIT y el candado Fase 3 a Fase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Concepto bisagra: permite decir sí a la innovación sin sentir que entra algo ajeno al carisma. La tecnología es el patio de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estructura mantiene distinguibles lo pastoral y lo pedagógico, con la innovación como hilo transversal.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añade el antropológico y se explicita el pastoral-ético como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Preventivo no es una corriente más: es el marco que da sentido a las corrientes que operan como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recupera el conocer/saber y se explicita la dimensión espiritual, para que no se disuelvan en el 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Reconocer el patio digital como ambiente de aprendizaje extiende a él la asistencia salesiana.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media técnica en Analítica de Datos es el destino visible del hilo; ya está firmada con el SENA.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Evaluar preventivamente en los nuevos patios incluye educar en la honestidad académica y la transparencia sobre el uso de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de la línea base 1.2.5: cuerpo docente muy dispuesto y competente; el reto es traducirlo a diseño pedagógico. El Diplomado se modula con estos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mensaje que evita que se pidan mallas antes de tiempo: el modelo declara; la Fase 4 construye.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decisión que se pide es la validación del modelo, que abre la Fase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la finalidad salesiana, actualizada al patio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MODELO PEDAGÓGICO · TAREA 1.4.4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Pedagógico Institucional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María Auxiliadora de Soacha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2926080" cy="0"/>
          </a:xfrm>
          <a:prstGeom prst="line">
            <a:avLst/>
          </a:prstGeom>
          <a:noFill/>
          <a:ln w="31750">
            <a:solidFill>
              <a:srgbClr val="BF900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del modelo a partir de la estructura aprobada por el Consejo Directivo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· Acompañamiento a la actualización del PEI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ENCUADRE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estructura aprobada al modelo redactado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1280160"/>
          </a:xfrm>
          <a:prstGeom prst="roundRect">
            <a:avLst>
              <a:gd name="adj" fmla="val 5714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993392"/>
            <a:ext cx="457200" cy="457200"/>
          </a:xfrm>
          <a:prstGeom prst="ellipse">
            <a:avLst/>
          </a:prstGeom>
          <a:solidFill>
            <a:srgbClr val="BF900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144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901952"/>
            <a:ext cx="69796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redacción completa del modelo sobre las 15 secciones que el Consejo Directivo aprobó, con innovación y tecnología integradas en su lugar.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10911535" cy="1280160"/>
          </a:xfrm>
          <a:prstGeom prst="roundRect">
            <a:avLst>
              <a:gd name="adj" fmla="val 5714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3502152"/>
            <a:ext cx="457200" cy="457200"/>
          </a:xfrm>
          <a:prstGeom prst="ellipse">
            <a:avLst/>
          </a:prstGeom>
          <a:solidFill>
            <a:srgbClr val="BF900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1440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3410712"/>
            <a:ext cx="69796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propone, diseña y acompaña. El Colegio María Auxiliadora de Soacha delibera, decide y adopta (Consejo Académico → Consejo Directivo → resolución rectoral).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0911535" cy="1280160"/>
          </a:xfrm>
          <a:prstGeom prst="roundRect">
            <a:avLst>
              <a:gd name="adj" fmla="val 5714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5010912"/>
            <a:ext cx="457200" cy="457200"/>
          </a:xfrm>
          <a:prstGeom prst="ellipse">
            <a:avLst/>
          </a:prstGeom>
          <a:solidFill>
            <a:srgbClr val="BF9000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1440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937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candado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4919472"/>
            <a:ext cx="69796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declara el enfoque. Las mallas curriculares se construyen en la Fase 4, solo una vez validado el modelo.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IDEA-FUERZA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«Nuevos Patios»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PEPS del León XIII ya nombra lo digital como «Nuevos Patios». En Don Bosco, el patio es el lugar del encuentro y de la presencia del educador —la «asistencia»—. Hoy los jóvenes habitan también el patio digital.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innovación no compite con el carisma: es el Sistema Preventivo aplicado al lugar donde los jóvenes ahora viven.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40880" y="173736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2A5A88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223760" y="1737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040880" y="269748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2A5A88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223760" y="26974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040880" y="365760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2A5A88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223760" y="36576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Capilla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040880" y="4617720"/>
            <a:ext cx="4206240" cy="777240"/>
          </a:xfrm>
          <a:prstGeom prst="roundRect">
            <a:avLst>
              <a:gd name="adj" fmla="val 11765"/>
            </a:avLst>
          </a:prstGeom>
          <a:solidFill>
            <a:srgbClr val="BF9000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223760" y="46177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Patio digital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15 SECCIONES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del modelo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011680"/>
            <a:ext cx="164592" cy="731520"/>
          </a:xfrm>
          <a:prstGeom prst="roundRect">
            <a:avLst>
              <a:gd name="adj" fmla="val 27778"/>
            </a:avLst>
          </a:prstGeom>
          <a:solidFill>
            <a:srgbClr val="1F4E79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234440" y="1947672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y marco (lo pastoral)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350008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Introducción · 2 Fundamentos · 3 Política pedagógica · 4 Enfoque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" y="3429000"/>
            <a:ext cx="164592" cy="731520"/>
          </a:xfrm>
          <a:prstGeom prst="roundRect">
            <a:avLst>
              <a:gd name="adj" fmla="val 27778"/>
            </a:avLst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234440" y="3364992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(lo pedagógico)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767328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Propósitos · 6 Dimensiones · 7 Ambientes · 8 Ejes · 9 Estrategias · 10 Planeación · 11 Docente · 12 Estudiante · 13 Evaluación · 14 Investigación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4846320"/>
            <a:ext cx="164592" cy="731520"/>
          </a:xfrm>
          <a:prstGeom prst="roundRect">
            <a:avLst>
              <a:gd name="adj" fmla="val 27778"/>
            </a:avLst>
          </a:prstGeom>
          <a:solidFill>
            <a:srgbClr val="BF9000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234440" y="4782312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Concreción (hacia la Fase 4)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84648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Articulación y seguimiento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pastoral es el marco; lo pedagógico es el método; la innovación atraviesa ambos. Nadie queda subordinado.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fundamentos, una base pastoral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BF900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110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Antropológico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58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joven en el centro; dignidad y desarrollo integral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37960" y="2011680"/>
            <a:ext cx="457200" cy="457200"/>
          </a:xfrm>
          <a:prstGeom prst="ellipse">
            <a:avLst/>
          </a:prstGeom>
          <a:solidFill>
            <a:srgbClr val="BF900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37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9110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Epistemológico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258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como construcción; competencias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3063240"/>
            <a:ext cx="457200" cy="457200"/>
          </a:xfrm>
          <a:prstGeom prst="ellipse">
            <a:avLst/>
          </a:prstGeom>
          <a:solidFill>
            <a:srgbClr val="BF9000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686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29626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Psicopedagógico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310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activa y aprendizaje significativo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37960" y="3063240"/>
            <a:ext cx="457200" cy="457200"/>
          </a:xfrm>
          <a:prstGeom prst="ellipse">
            <a:avLst/>
          </a:prstGeom>
          <a:solidFill>
            <a:srgbClr val="BF9000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5379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9626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Sociológico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10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 juvenil y contexto; sociedad en red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BF3D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BF9000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8686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40142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Pastoral y ético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3616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Preventivo: razón, religión, amabilidad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3093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fundamento pastoral y ético no es un apéndice: es la base que da sentido a los demás.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PEDAGÓGICO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por competencias del saber, humanista y salesiano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MARCO:  Sistema Preventivo  —  razón · religión · amabilidad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590724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2590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Constructivismo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413684" y="3017520"/>
            <a:ext cx="2590724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413684" y="3017520"/>
            <a:ext cx="2590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Pedagogía crítica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87288" y="3017520"/>
            <a:ext cx="2590724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187288" y="3017520"/>
            <a:ext cx="2590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Socioformación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60891" y="3017520"/>
            <a:ext cx="2590724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960891" y="3017520"/>
            <a:ext cx="2590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activa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3D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40080" y="42519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Y APRENDIZAJE ACTIVO DIGITAL  —  los «Nuevos Patios»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marco pastoral sostiene el método pedagógico; la innovación es visible y articulada, sin diluirse ni imponerse.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FORMATIVAS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dimensiones de la formación integral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/ saber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y alfabetizaciones, incluida la digital y de datos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529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Intelectual-científica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58368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957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Acción, creación y competencias digitales aplicadas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529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Comunicativa-digital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14400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(y espiritual)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9502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interioridad y apertura a la trascendencia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4074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Espiritual-evangelizadora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3832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583680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Convivir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95020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Ciudadanía, solidaridad y cuidado de la casa común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40740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Sociopolítica-ciudadana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Y ESCENARIOS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aprendizaje ocurre en escenarios complementarios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22144" cy="2194560"/>
          </a:xfrm>
          <a:prstGeom prst="roundRect">
            <a:avLst>
              <a:gd name="adj" fmla="val 3333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489672" y="2286000"/>
            <a:ext cx="822960" cy="8229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489672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intencionada del saber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36544" y="2011680"/>
            <a:ext cx="2522144" cy="2194560"/>
          </a:xfrm>
          <a:prstGeom prst="roundRect">
            <a:avLst>
              <a:gd name="adj" fmla="val 3333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286136" y="2286000"/>
            <a:ext cx="822960" cy="8229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286136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573704" y="324612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73704" y="370332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Encuentro, juego y presencia educativa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2011680"/>
            <a:ext cx="2522144" cy="2194560"/>
          </a:xfrm>
          <a:prstGeom prst="roundRect">
            <a:avLst>
              <a:gd name="adj" fmla="val 3333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082600" y="2286000"/>
            <a:ext cx="822960" cy="82296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0826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370168" y="324612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Capilla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370168" y="370332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Interioridad y celebración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29471" y="2011680"/>
            <a:ext cx="2522144" cy="2194560"/>
          </a:xfrm>
          <a:prstGeom prst="roundRect">
            <a:avLst>
              <a:gd name="adj" fmla="val 3333"/>
            </a:avLst>
          </a:prstGeom>
          <a:solidFill>
            <a:srgbClr val="FBF3D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879063" y="2286000"/>
            <a:ext cx="822960" cy="822960"/>
          </a:xfrm>
          <a:prstGeom prst="ellipse">
            <a:avLst/>
          </a:prstGeom>
          <a:solidFill>
            <a:srgbClr val="BF9000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879063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166631" y="324612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Patio digital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166631" y="370332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contemporáneo de encuentro y aprendizaje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6634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presencia y la asistencia salesianas se extienden al patio digital: el educador acompaña también allí.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VERTICAL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hilo de innovación desde el preescolar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453564" cy="1737360"/>
          </a:xfrm>
          <a:prstGeom prst="roundRect">
            <a:avLst>
              <a:gd name="adj" fmla="val 4211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2560320"/>
            <a:ext cx="21792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Preescolar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computacional desenchufado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139364" y="3017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59404" y="2377440"/>
            <a:ext cx="2453564" cy="1737360"/>
          </a:xfrm>
          <a:prstGeom prst="roundRect">
            <a:avLst>
              <a:gd name="adj" fmla="val 4211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596564" y="2560320"/>
            <a:ext cx="21792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96564" y="3200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Lógica, datos y ciudadanía digital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58688" y="3017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78728" y="2377440"/>
            <a:ext cx="2453564" cy="1737360"/>
          </a:xfrm>
          <a:prstGeom prst="roundRect">
            <a:avLst>
              <a:gd name="adj" fmla="val 4211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15888" y="2560320"/>
            <a:ext cx="21792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Secundaria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3200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bloques a texto; IA como objeto de estudio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778011" y="3017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098051" y="2377440"/>
            <a:ext cx="2453564" cy="1737360"/>
          </a:xfrm>
          <a:prstGeom prst="roundRect">
            <a:avLst>
              <a:gd name="adj" fmla="val 4211"/>
            </a:avLst>
          </a:prstGeom>
          <a:solidFill>
            <a:srgbClr val="FBF3D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235211" y="2560320"/>
            <a:ext cx="21792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técnica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35211" y="3200400"/>
            <a:ext cx="21792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para Analítica de Datos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4805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para todos; especialización en analítica de datos para quienes cursen la media técnica —ya formalizada con el SENA—.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074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mapa de capacidades, no de contenidos: la traducción a intensidades y secuencias es de la Fase 4.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EVALUACIÓN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Docente, estudiante y evaluación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93338" cy="2468880"/>
          </a:xfrm>
          <a:prstGeom prst="roundRect">
            <a:avLst>
              <a:gd name="adj" fmla="val 2963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BF900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83280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Mediador y acompañante; la «asistencia» salesiana se extiende al patio digital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99178" y="2011680"/>
            <a:ext cx="3393338" cy="2468880"/>
          </a:xfrm>
          <a:prstGeom prst="roundRect">
            <a:avLst>
              <a:gd name="adj" fmla="val 2963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673498" y="2240280"/>
            <a:ext cx="457200" cy="457200"/>
          </a:xfrm>
          <a:prstGeom prst="ellipse">
            <a:avLst/>
          </a:prstGeom>
          <a:solidFill>
            <a:srgbClr val="BF900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673498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73498" y="288036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73498" y="3383280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Protagonista que pregunta, crea y coopera; creador con tecnología, no solo consumidor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58277" y="2011680"/>
            <a:ext cx="3393338" cy="2468880"/>
          </a:xfrm>
          <a:prstGeom prst="roundRect">
            <a:avLst>
              <a:gd name="adj" fmla="val 2963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432597" y="2240280"/>
            <a:ext cx="457200" cy="457200"/>
          </a:xfrm>
          <a:prstGeom prst="ellipse">
            <a:avLst/>
          </a:prstGeom>
          <a:solidFill>
            <a:srgbClr val="BF9000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432597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32597" y="288036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32597" y="3383280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Formativa y preventiva; articulada con el SIEE (Decreto 1290) y con la mirada positiva salesiana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PUENTE DOCENTE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base habilita la formación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254E76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4,49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Actitud hacia la innovación (de 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254E76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343400" y="2286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3154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digital demostrado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10312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254E76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046720" y="2286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4,67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31546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Disposición a formarse en IA (de 5)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29768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borde de crecimiento no es lo digital básico, sino la integración pedagógica y la IA aplicada. El Diplomado en IA (Fase 6) responde justo a eso.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CANDADO F3 → F4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frontera: lo que el modelo declara y lo que la Fase 4 construye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DECLARA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974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Enfoque y fundamentos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Propósitos y dimensiones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Ambientes, roles y evaluación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hilo de innovación (capacidades)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BF3D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53796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Fase 4 CONSTRUYE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974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1.5.1  Arquitectura del plan (80/20)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1.5.4  Contenido, DBA/EBC, intensidad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1.5.7  Validación de las mallas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 especialidad de la media técnica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257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malla se diseña sin el modelo validado.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PIDE AL CONSEJO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de adopción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453564" cy="1645920"/>
          </a:xfrm>
          <a:prstGeom prst="roundRect">
            <a:avLst>
              <a:gd name="adj" fmla="val 4444"/>
            </a:avLst>
          </a:prstGeom>
          <a:solidFill>
            <a:srgbClr val="1F4E7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245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1.4.4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08960"/>
            <a:ext cx="21792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del modelo (este documento)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139364" y="2880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59404" y="2286000"/>
            <a:ext cx="2453564" cy="1645920"/>
          </a:xfrm>
          <a:prstGeom prst="roundRect">
            <a:avLst>
              <a:gd name="adj" fmla="val 4444"/>
            </a:avLst>
          </a:prstGeom>
          <a:solidFill>
            <a:srgbClr val="1F4E7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459404" y="2514600"/>
            <a:ext cx="245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1.4.5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96564" y="3108960"/>
            <a:ext cx="21792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y ajustes con la comunidad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58688" y="2880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78728" y="2286000"/>
            <a:ext cx="2453564" cy="1645920"/>
          </a:xfrm>
          <a:prstGeom prst="roundRect">
            <a:avLst>
              <a:gd name="adj" fmla="val 4444"/>
            </a:avLst>
          </a:prstGeom>
          <a:solidFill>
            <a:srgbClr val="1F4E79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278728" y="2514600"/>
            <a:ext cx="245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1.4.6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3108960"/>
            <a:ext cx="21792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adopción por el gobierno escolar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778011" y="2880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098051" y="2286000"/>
            <a:ext cx="2453564" cy="1645920"/>
          </a:xfrm>
          <a:prstGeom prst="roundRect">
            <a:avLst>
              <a:gd name="adj" fmla="val 4444"/>
            </a:avLst>
          </a:prstGeom>
          <a:solidFill>
            <a:srgbClr val="FBF3DD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098051" y="2514600"/>
            <a:ext cx="2453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235211" y="3108960"/>
            <a:ext cx="21792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el diseño de mallas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EEF4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25400" dir="5400000">
              <a:srgbClr val="AAB4C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914400" y="438912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solicita al Consejo validar el modelo (hito 1.4.6). Con esa validación se habilita el inicio de la Fase 4.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51760"/>
            <a:ext cx="2926080" cy="0"/>
          </a:xfrm>
          <a:prstGeom prst="line">
            <a:avLst/>
          </a:prstGeom>
          <a:noFill/>
          <a:ln w="31750">
            <a:solidFill>
              <a:srgbClr val="BF900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«Buenos cristianos y honestos ciudadanos»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…también en el patio digital.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Pedagógico Institucional · Colegio María Auxiliadora de Soacha · Fase 3 · Tarea 1.4.4 · EICIT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00">
                <a:solidFill>
                  <a:srgbClr val="BF9000"/>
                </a:solidFill>
                <a:latin typeface="Calibri"/>
              </a:rPr>
              <a:t>RUTA PEDAGÓGICA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Los momentos didácticos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2E75B6"/>
                </a:solidFill>
                <a:latin typeface="Calibri"/>
              </a:rPr>
              <a:t>La ruta institucional del Colegio que ordena la planeación de la clase, sin uniformar la creatividad del docente.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3429000" cy="1737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7" y="227685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29514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E75B6"/>
                </a:solidFill>
                <a:latin typeface="Calibri"/>
              </a:rPr>
              <a:t>Diagnóstico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07208"/>
            <a:ext cx="2971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Calibri"/>
              </a:rPr>
              <a:t>Reconocer saberes previos, ritmos y necesidades para orientar la enseñanza.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57400"/>
            <a:ext cx="3429000" cy="1737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44568" y="227685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229514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E75B6"/>
                </a:solidFill>
                <a:latin typeface="Calibri"/>
              </a:rPr>
              <a:t>Sensibilización y motivación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807208"/>
            <a:ext cx="2971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Calibri"/>
              </a:rPr>
              <a:t>Despertar el interés, activar saberes previos y conectar con la vida.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57400"/>
            <a:ext cx="3429000" cy="1737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47888" y="227685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2295144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E75B6"/>
                </a:solidFill>
                <a:latin typeface="Calibri"/>
              </a:rPr>
              <a:t>Acuerdos pedagógicos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807208"/>
            <a:ext cx="2971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Calibri"/>
              </a:rPr>
              <a:t>Establecer normas y criterios de convivencia y de trabajo del aula.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39"/>
            <a:ext cx="3429000" cy="1737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7" y="419709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4215383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E75B6"/>
                </a:solidFill>
                <a:latin typeface="Calibri"/>
              </a:rPr>
              <a:t>Construcción y comprensión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727448"/>
            <a:ext cx="2971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Calibri"/>
              </a:rPr>
              <a:t>Construir el saber con mediación del docente y de los recursos.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77639"/>
            <a:ext cx="3429000" cy="1737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44568" y="419709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3208" y="4215383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E75B6"/>
                </a:solidFill>
                <a:latin typeface="Calibri"/>
              </a:rPr>
              <a:t>Aplicación y consolidación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4727448"/>
            <a:ext cx="2971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Calibri"/>
              </a:rPr>
              <a:t>Poner en juego lo aprendido en producciones y soluciones con sentido.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977639"/>
            <a:ext cx="3429000" cy="1737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47888" y="4197096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4215383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E75B6"/>
                </a:solidFill>
                <a:latin typeface="Calibri"/>
              </a:rPr>
              <a:t>Cierre y proyección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4727448"/>
            <a:ext cx="2971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Calibri"/>
              </a:rPr>
              <a:t>Valorar el proceso, retroalimentar y proyectar el aprendizaje a la vida.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222222"/>
                </a:solidFill>
                <a:latin typeface="Calibri"/>
              </a:rPr>
              <a:t>Cada momento vive dentro del Sistema Preventivo: prevención, acompañamiento y clima de confianza al estilo del patio.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2026-09-11T17:15:06Z</dcterms:created>
  <dcterms:modified xsi:type="dcterms:W3CDTF">2026-09-11T17:15:06Z</dcterms:modified>
</cp:coreProperties>
</file>