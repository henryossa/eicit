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640080"/>
            <a:ext cx="457200" cy="457200"/>
          </a:xfrm>
          <a:prstGeom prst="diamond">
            <a:avLst/>
          </a:prstGeom>
          <a:solidFill>
            <a:srgbClr val="BF9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292840" y="1143000"/>
            <a:ext cx="256032" cy="256032"/>
          </a:xfrm>
          <a:prstGeom prst="diamond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806440"/>
            <a:ext cx="310896" cy="310896"/>
          </a:xfrm>
          <a:prstGeom prst="diamond">
            <a:avLst/>
          </a:prstGeom>
          <a:solidFill>
            <a:srgbClr val="BF90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MODELO PEDAGÓGICO  ·  TAREAS 1.4.2 Y 1.4.3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Innovación y tecnología en el modelo pedagógico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BF9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su articulación con razón, religión y amabilidad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4114800"/>
            <a:ext cx="384048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María Auxiliadora de Soacha (ENSMA)  ·  Acompañamiento técnico de EICIT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663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Marco: Circular 0064 de 2026 (SEM) · Actualización del PEI 2026–2027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propone, diseña y acompaña.  ·  La ENSMA delibera, decide y adopta.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82880" cy="182880"/>
          </a:xfrm>
          <a:prstGeom prst="diamond">
            <a:avLst/>
          </a:prstGeom>
          <a:solidFill>
            <a:srgbClr val="BF9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3840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encuadre de estas dos tareas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96112" y="10241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estamos y qué asegura el proceso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48840"/>
            <a:ext cx="868680" cy="868680"/>
          </a:xfrm>
          <a:prstGeom prst="roundRect">
            <a:avLst>
              <a:gd name="adj" fmla="val 52632"/>
            </a:avLst>
          </a:prstGeom>
          <a:solidFill>
            <a:srgbClr val="D5E8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148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703320"/>
            <a:ext cx="2788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actualización del PEI se ejecuta según la Circular 0064 de 2026 de la Secretaría de Educación de Soacha.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967740000" dist="322580000" dir="324000000000">
              <a:srgbClr val="9AA7B4">
                <a:alpha val="28000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148840"/>
            <a:ext cx="868680" cy="868680"/>
          </a:xfrm>
          <a:prstGeom prst="roundRect">
            <a:avLst>
              <a:gd name="adj" fmla="val 52632"/>
            </a:avLst>
          </a:prstGeom>
          <a:solidFill>
            <a:srgbClr val="D5E8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2148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703320"/>
            <a:ext cx="2788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propone, diseña y acompaña; la ENSMA delibera, decide y adopta (Consejo Académico → Consejo Directivo → resolución rectoral).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182880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2290298000000" dist="4096766000000" dir="19440000000000000">
              <a:srgbClr val="9AA7B4">
                <a:alpha val="2800000000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2148840"/>
            <a:ext cx="868680" cy="868680"/>
          </a:xfrm>
          <a:prstGeom prst="roundRect">
            <a:avLst>
              <a:gd name="adj" fmla="val 52632"/>
            </a:avLst>
          </a:prstGeom>
          <a:solidFill>
            <a:srgbClr val="D5E8F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6760" y="2148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Candado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703320"/>
            <a:ext cx="2788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plan de estudios se diseña sin el modelo pedagógico validado. Estas tareas construyen ese modelo.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58368"/>
            <a:ext cx="182880" cy="182880"/>
          </a:xfrm>
          <a:prstGeom prst="diamond">
            <a:avLst/>
          </a:prstGeom>
          <a:solidFill>
            <a:srgbClr val="BF9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Idea-fuerza: los «Nuevos Patios»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96112" y="12344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innovación no es un añadido al carisma: es el Sistema Preventivo aplicado al lugar donde hoy también viven los jóvenes.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2377440" cy="2286000"/>
          </a:xfrm>
          <a:prstGeom prst="roundRect">
            <a:avLst>
              <a:gd name="adj" fmla="val 4000"/>
            </a:avLst>
          </a:prstGeom>
          <a:solidFill>
            <a:srgbClr val="2A5C8A"/>
          </a:solidFill>
          <a:ln/>
          <a:effectLst>
            <a:outerShdw sx="100000" sy="100000" kx="0" ky="0" algn="bl" rotWithShape="0" blurRad="101600" dist="38100" dir="5400000">
              <a:srgbClr val="10243B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3246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977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se aprende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2743200"/>
            <a:ext cx="3840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FB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520440" y="2743200"/>
            <a:ext cx="2377440" cy="2286000"/>
          </a:xfrm>
          <a:prstGeom prst="roundRect">
            <a:avLst>
              <a:gd name="adj" fmla="val 4000"/>
            </a:avLst>
          </a:prstGeom>
          <a:solidFill>
            <a:srgbClr val="2A5C8A"/>
          </a:solidFill>
          <a:ln/>
          <a:effectLst>
            <a:outerShdw sx="100000" sy="100000" kx="0" ky="0" algn="bl" rotWithShape="0" blurRad="101600" dist="38100" dir="5400000">
              <a:srgbClr val="10243B">
                <a:alpha val="4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20440" y="3246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Patio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977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se acompaña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743200"/>
            <a:ext cx="3840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FB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217920" y="2743200"/>
            <a:ext cx="2377440" cy="2286000"/>
          </a:xfrm>
          <a:prstGeom prst="roundRect">
            <a:avLst>
              <a:gd name="adj" fmla="val 4000"/>
            </a:avLst>
          </a:prstGeom>
          <a:solidFill>
            <a:srgbClr val="2A5C8A"/>
          </a:solidFill>
          <a:ln/>
          <a:effectLst>
            <a:outerShdw sx="100000" sy="100000" kx="0" ky="0" algn="bl" rotWithShape="0" blurRad="101600" dist="38100" dir="5400000">
              <a:srgbClr val="10243B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17920" y="3246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Capilla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977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se celebra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549640" y="2743200"/>
            <a:ext cx="3840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FB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915400" y="2743200"/>
            <a:ext cx="2377440" cy="2286000"/>
          </a:xfrm>
          <a:prstGeom prst="roundRect">
            <a:avLst>
              <a:gd name="adj" fmla="val 4000"/>
            </a:avLst>
          </a:prstGeom>
          <a:solidFill>
            <a:srgbClr val="BF9000"/>
          </a:solidFill>
          <a:ln/>
          <a:effectLst>
            <a:outerShdw sx="100000" sy="100000" kx="0" ky="0" algn="bl" rotWithShape="0" blurRad="101600" dist="38100" dir="5400000">
              <a:srgbClr val="10243B">
                <a:alpha val="4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915400" y="3246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Patio digital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3977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hoy conviven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presencia y la «asistencia» salesiana se extienden al entorno digital: acompañar, no solo vigilar.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82880" cy="182880"/>
          </a:xfrm>
          <a:prstGeom prst="diamond">
            <a:avLst/>
          </a:prstGeom>
          <a:solidFill>
            <a:srgbClr val="BF9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3840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componente de innovación en seis piezas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96112" y="10241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organiza el eje tecnológico dentro del PEI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56086784600000000" dist="52028928200000000" dir="1.1664e+21">
              <a:srgbClr val="9AA7B4">
                <a:alpha val="280000000000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5740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1F4E7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36192" y="20391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Horizonte y perfil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sello de innovación como rasgo del estudiante.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.98230216442e+21" dist="660767388140000000000" dir="6.9984e+25">
              <a:srgbClr val="9AA7B4">
                <a:alpha val="2.8e+2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205740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1F4E7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9432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239512" y="20391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pedagógico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Mediación con IA orientada por criterios de aula.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178308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2.5175237488134e+25" dist="8.391745829378e+24" dir="4.19904e+30">
              <a:srgbClr val="9AA7B4">
                <a:alpha val="2.8000000000000003e+2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02752" y="205740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1F4E7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02752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942832" y="20391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 transversal de TIC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innovación en el plan de estudios (Fase 4).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3.197255160993018e+29" dist="1.0657517203310059e+29" dir="2.519424e+35">
              <a:srgbClr val="9AA7B4">
                <a:alpha val="2.8000000000000005e+3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" y="393192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1F4E7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96112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536192" y="39136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Ciudadanía digital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526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Seguridad, bienestar y convivencia en línea.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43400" y="365760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4.0605140544611325e+33" dist="1.3535046848203775e+33" dir="1.5116544e+40">
              <a:srgbClr val="9AA7B4">
                <a:alpha val="2.8000000000000006e+39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99432" y="393192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1F4E7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99432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239512" y="39136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Formación docente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4526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uso incipiente al diseño con criterio (Diplomado).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46720" y="365760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5.156852849165638e+37" dist="1.7189509497218795e+37" dir="9.069926400000001e+44">
              <a:srgbClr val="9AA7B4">
                <a:alpha val="2.8000000000000005e+44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02752" y="393192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1F4E7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02752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942832" y="39136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Transverso de calidad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4526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digitales y seguimiento del avance.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82880" cy="182880"/>
          </a:xfrm>
          <a:prstGeom prst="diamond">
            <a:avLst/>
          </a:prstGeom>
          <a:solidFill>
            <a:srgbClr val="BF9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3840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hilo conductor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96112" y="10241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innovación atraviesa toda la trayectoria y converge en la media técnica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80160" y="3246120"/>
            <a:ext cx="7040880" cy="0"/>
          </a:xfrm>
          <a:prstGeom prst="line">
            <a:avLst/>
          </a:prstGeom>
          <a:noFill/>
          <a:ln w="3810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880360"/>
            <a:ext cx="731520" cy="731520"/>
          </a:xfrm>
          <a:prstGeom prst="roundRect">
            <a:avLst>
              <a:gd name="adj" fmla="val 62500"/>
            </a:avLst>
          </a:prstGeom>
          <a:solidFill>
            <a:srgbClr val="1F4E7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Preescolar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0" y="2880360"/>
            <a:ext cx="731520" cy="731520"/>
          </a:xfrm>
          <a:prstGeom prst="roundRect">
            <a:avLst>
              <a:gd name="adj" fmla="val 62500"/>
            </a:avLst>
          </a:prstGeom>
          <a:solidFill>
            <a:srgbClr val="1F4E7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 primaria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0" y="2880360"/>
            <a:ext cx="731520" cy="731520"/>
          </a:xfrm>
          <a:prstGeom prst="roundRect">
            <a:avLst>
              <a:gd name="adj" fmla="val 62500"/>
            </a:avLst>
          </a:prstGeom>
          <a:solidFill>
            <a:srgbClr val="1F4E7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 secundaria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0" y="2880360"/>
            <a:ext cx="731520" cy="731520"/>
          </a:xfrm>
          <a:prstGeom prst="roundRect">
            <a:avLst>
              <a:gd name="adj" fmla="val 62500"/>
            </a:avLst>
          </a:prstGeom>
          <a:solidFill>
            <a:srgbClr val="1F4E7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549640" y="233172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BF9000"/>
          </a:solidFill>
          <a:ln/>
          <a:effectLst>
            <a:outerShdw sx="100000" sy="100000" kx="0" ky="0" algn="bl" rotWithShape="0" blurRad="6.549203118440361e+41" dist="2.183067706146787e+41" dir="5.44195584e+49">
              <a:srgbClr val="9AA7B4">
                <a:alpha val="2.8000000000000003e+49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75320" y="3063240"/>
            <a:ext cx="365760" cy="365760"/>
          </a:xfrm>
          <a:prstGeom prst="diamond">
            <a:avLst/>
          </a:prstGeom>
          <a:solidFill>
            <a:srgbClr val="BF90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3252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TÉCNICA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732520" y="2834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Programación para</a:t>
            </a:r>
            <a:endParaRPr lang="en-US" sz="19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Analítica de Datos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732520" y="3675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 confirmada por CIDE-SENA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074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ciclo retoma y profundiza lo anterior, de manera acumulativa y en espiral, sembrando las capacidades que la media técnica cosecha.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82880" cy="182880"/>
          </a:xfrm>
          <a:prstGeom prst="diamond">
            <a:avLst/>
          </a:prstGeom>
          <a:solidFill>
            <a:srgbClr val="BF9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3840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mismo hilo, doble propósito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96112" y="10241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analítica de datos es la cima visible, no el único fin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D5E8F0"/>
          </a:solidFill>
          <a:ln/>
          <a:effectLst>
            <a:outerShdw sx="100000" sy="100000" kx="0" ky="0" algn="bl" rotWithShape="0" blurRad="8.317487960419258e+45" dist="2.7724959868064195e+45" dir="3.2651735040000005e+54">
              <a:srgbClr val="9AA7B4">
                <a:alpha val="2.8e+54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2103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514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Alfabetización de la Cuarta Revolución Industrial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918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computacional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y sentido del dato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 la inteligencia artificial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Ciudadanía digital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892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el mundo tecnológico e insertarse en él de forma productiva.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1F4E79"/>
          </a:solidFill>
          <a:ln/>
          <a:effectLst>
            <a:outerShdw sx="100000" sy="100000" kx="0" ky="0" algn="bl" rotWithShape="0" blurRad="1.0563209709732457e+50" dist="3.5210699032441527e+49" dir="1.9591041024000004e+59">
              <a:srgbClr val="9AA7B4">
                <a:alpha val="2.8000000000000002e+59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37960" y="2103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ALGUNOS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514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Especialización en la media técnica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2918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para analítica de datos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con datos reales y visualización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con impacto social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Articulación con el SENA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4892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la base común, quienes opten por la técnica profundizan.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82880" cy="182880"/>
          </a:xfrm>
          <a:prstGeom prst="diamond">
            <a:avLst/>
          </a:prstGeom>
          <a:solidFill>
            <a:srgbClr val="BF9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3840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Progresión por ciclos (capacidades, no contenidos)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96112" y="10241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desarrolla en cada ciclo y su aporte a la ruta de datos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Preescolar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017520" y="1911096"/>
            <a:ext cx="0" cy="402336"/>
          </a:xfrm>
          <a:prstGeom prst="line">
            <a:avLst/>
          </a:prstGeom>
          <a:noFill/>
          <a:ln w="12700">
            <a:solidFill>
              <a:srgbClr val="C9D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0" y="178308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Patrones, secuencias y clasificación mediante el juego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503920" y="1911096"/>
            <a:ext cx="0" cy="402336"/>
          </a:xfrm>
          <a:prstGeom prst="line">
            <a:avLst/>
          </a:prstGeom>
          <a:noFill/>
          <a:ln w="12700">
            <a:solidFill>
              <a:srgbClr val="C9D6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0" y="178308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Germen del «dato»: contar, ordenar, agrupar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542032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3F7FB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54203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Primaria 1.º–3.º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3017520" y="2670048"/>
            <a:ext cx="0" cy="402336"/>
          </a:xfrm>
          <a:prstGeom prst="line">
            <a:avLst/>
          </a:prstGeom>
          <a:noFill/>
          <a:ln w="12700">
            <a:solidFill>
              <a:srgbClr val="C9D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0400" y="254203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Lógica, algoritmos simples y representar información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0" y="2670048"/>
            <a:ext cx="0" cy="402336"/>
          </a:xfrm>
          <a:prstGeom prst="line">
            <a:avLst/>
          </a:prstGeom>
          <a:noFill/>
          <a:ln w="12700">
            <a:solidFill>
              <a:srgbClr val="C9D6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0" y="254203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como representación del mundo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300984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30098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Primaria 4.º–5.º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3017520" y="3429000"/>
            <a:ext cx="0" cy="402336"/>
          </a:xfrm>
          <a:prstGeom prst="line">
            <a:avLst/>
          </a:prstGeom>
          <a:noFill/>
          <a:ln w="12700">
            <a:solidFill>
              <a:srgbClr val="C9D6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00400" y="3300984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algorítmico, bloques y lectura de gráficos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03920" y="3429000"/>
            <a:ext cx="0" cy="402336"/>
          </a:xfrm>
          <a:prstGeom prst="line">
            <a:avLst/>
          </a:prstGeom>
          <a:noFill/>
          <a:ln w="12700">
            <a:solidFill>
              <a:srgbClr val="C9D6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0" y="3300984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 interpretar datos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059936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3F7FB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05993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Secundaria 6.º–7.º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3017520" y="4187952"/>
            <a:ext cx="0" cy="402336"/>
          </a:xfrm>
          <a:prstGeom prst="line">
            <a:avLst/>
          </a:prstGeom>
          <a:noFill/>
          <a:ln w="12700">
            <a:solidFill>
              <a:srgbClr val="C9D6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00400" y="4059936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bloques a texto; datos con propósito; IA como objeto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503920" y="4187952"/>
            <a:ext cx="0" cy="402336"/>
          </a:xfrm>
          <a:prstGeom prst="line">
            <a:avLst/>
          </a:prstGeom>
          <a:noFill/>
          <a:ln w="12700">
            <a:solidFill>
              <a:srgbClr val="C9D6E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86800" y="4059936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 y organizar datos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818888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81888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Secundaria 8.º–9.º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3017520" y="4946904"/>
            <a:ext cx="0" cy="402336"/>
          </a:xfrm>
          <a:prstGeom prst="line">
            <a:avLst/>
          </a:prstGeom>
          <a:noFill/>
          <a:ln w="12700">
            <a:solidFill>
              <a:srgbClr val="C9D6E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200400" y="4818888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Programación; estadística con sentido; IA con criterio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03920" y="4946904"/>
            <a:ext cx="0" cy="402336"/>
          </a:xfrm>
          <a:prstGeom prst="line">
            <a:avLst/>
          </a:prstGeom>
          <a:noFill/>
          <a:ln w="12700">
            <a:solidFill>
              <a:srgbClr val="C9D6E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86800" y="481888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básico y proyectos con datos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557784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BF900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" y="55778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10.º–11.º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3017520" y="5705856"/>
            <a:ext cx="0" cy="402336"/>
          </a:xfrm>
          <a:prstGeom prst="line">
            <a:avLst/>
          </a:prstGeom>
          <a:noFill/>
          <a:ln w="12700">
            <a:solidFill>
              <a:srgbClr val="3A2E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200400" y="557784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 de datos (SENA): datos reales y proyecto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503920" y="5705856"/>
            <a:ext cx="0" cy="402336"/>
          </a:xfrm>
          <a:prstGeom prst="line">
            <a:avLst/>
          </a:prstGeom>
          <a:noFill/>
          <a:ln w="12700">
            <a:solidFill>
              <a:srgbClr val="3A2E0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686800" y="557784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cima: competencias técnicas de datos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82880" cy="182880"/>
          </a:xfrm>
          <a:prstGeom prst="diamond">
            <a:avLst/>
          </a:prstGeom>
          <a:solidFill>
            <a:srgbClr val="BF9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3840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frontera de alcance: el candado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96112" y="10241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declara la lógica; la Fase 4 construye el camino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49240" cy="2514600"/>
          </a:xfrm>
          <a:prstGeom prst="roundRect">
            <a:avLst>
              <a:gd name="adj" fmla="val 2909"/>
            </a:avLst>
          </a:prstGeom>
          <a:solidFill>
            <a:srgbClr val="D5E8F0"/>
          </a:solidFill>
          <a:ln/>
          <a:effectLst>
            <a:outerShdw sx="100000" sy="100000" kx="0" ky="0" algn="bl" rotWithShape="0" blurRad="1.341527633136022e+54" dist="4.471758777120074e+53" dir="1.1754624614400003e+64">
              <a:srgbClr val="9AA7B4">
                <a:alpha val="2.8e+64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DECLARA  ·  Fase 3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1460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hilo conductor y su lógica de progresión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focos de capacidad por ciclo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destino: la media técnica de datos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492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.7037400940827478e+58" dist="5.679133646942494e+57" dir="7.052774768640002e+68">
              <a:srgbClr val="9AA7B4">
                <a:alpha val="2.8000000000000002e+69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FASE 4 CONSTRUYE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51460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contenidos grado a grado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alineación con los DBA y los EBC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intensidad horaria y las secuencias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470916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3F7FB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892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1.5.1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349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 equilibrio 80/20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43400" y="470916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3F7FB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4892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1.5.4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5349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 la línea transversal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470916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3F7FB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75320" y="4892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1.5.7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5349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el 80/20 y los referentes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82880" cy="182880"/>
          </a:xfrm>
          <a:prstGeom prst="diamond">
            <a:avLst/>
          </a:prstGeom>
          <a:solidFill>
            <a:srgbClr val="BF9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3840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tecnología, articulada con el carisma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96112" y="10241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clave del trinomio da forma y sentido al uso de la tecnología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2.16374991948509e+62" dist="7.212499731616968e+61" dir="4.2316648611840007e+73">
              <a:srgbClr val="9AA7B4">
                <a:alpha val="2.8e+7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1F4E7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RAZÓN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34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Educación razonada en lo digital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657600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con criterio y propósito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crítico frente a la IA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de datos y ética algorítmica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2.747962397746064e+66" dist="9.15987465915355e+65" dir="2.5389989167104004e+78">
              <a:srgbClr val="9AA7B4">
                <a:alpha val="2.8e+7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783080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1F4E7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43400" y="17830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RELIGIÓN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834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 al servicio de la dignidad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3657600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del dato y del cuidado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de la casa común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«Buen cristiano y honesto ciudadano»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178308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3.4899122451375014e+70" dist="1.1633040817125008e+70" dir="1.5233993500262402e+83">
              <a:srgbClr val="9AA7B4">
                <a:alpha val="2.8000000000000002e+8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1783080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BF90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0" y="17830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AMABILIDAD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834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«asistencia» en el patio digital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339328" y="3657600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Acompañar, no solo vigilar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de la ciberconvivencia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digitales humanizadores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98932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presenta como propuesta abierta para el equipo pastoral de la ENSMA.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82880" cy="182880"/>
          </a:xfrm>
          <a:prstGeom prst="diamond">
            <a:avLst/>
          </a:prstGeom>
          <a:solidFill>
            <a:srgbClr val="BF9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3840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identidad, protegida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96112" y="10241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tecnología habilita — y lo que nunca sustituye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747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4.432188551324627e+74" dist="1.477396183774876e+74" dir="9.14039610015744e+87">
              <a:srgbClr val="9AA7B4">
                <a:alpha val="2.8000000000000004e+89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103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relación educativa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974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presencia y el acompañamiento del educador no se automatizan.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4747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5.628879460182276e+78" dist="1.8762931533940924e+78" dir="5.484237660094465e+92">
              <a:srgbClr val="9AA7B4">
                <a:alpha val="2.8000000000000004e+94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17720" y="2103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trascendente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6974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encuentro y la interioridad no se digitalizan.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34747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7.14867691443149e+82" dist="2.3828923048104974e+82" dir="3.2905425960566786e+97">
              <a:srgbClr val="9AA7B4">
                <a:alpha val="2.8000000000000003e+99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21040" y="2103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persona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6974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reduce a un dato ni se instrumentaliza.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0927080" cy="1600200"/>
          </a:xfrm>
          <a:prstGeom prst="roundRect">
            <a:avLst>
              <a:gd name="adj" fmla="val 4571"/>
            </a:avLst>
          </a:prstGeom>
          <a:solidFill>
            <a:srgbClr val="1F4E79"/>
          </a:solidFill>
          <a:ln/>
          <a:effectLst>
            <a:outerShdw sx="100000" sy="100000" kx="0" ky="0" algn="bl" rotWithShape="0" blurRad="9.078819681327992e+86" dist="3.0262732271093317e+86" dir="1.9743255576340073e+102">
              <a:srgbClr val="9AA7B4">
                <a:alpha val="2.8000000000000003e+104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892040"/>
            <a:ext cx="329184" cy="329184"/>
          </a:xfrm>
          <a:prstGeom prst="diamond">
            <a:avLst/>
          </a:prstGeom>
          <a:solidFill>
            <a:srgbClr val="BF9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448056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bienestar digital es el puente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37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Leyes 2489 de 2025 y 2564 de 2026 —ciudadanía y bienestar digital— son la amabilidad preventiva hecha norma: unen el eje tecnológico con la convivencia, en la lógica del Sistema Preventivo (prevenir antes que corregir).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82880" cy="182880"/>
          </a:xfrm>
          <a:prstGeom prst="diamond">
            <a:avLst/>
          </a:prstGeom>
          <a:solidFill>
            <a:srgbClr val="BF9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3840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puente formativo del docente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96112" y="10241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línea base 1.2.5 orienta el Diplomado en IA (Fase 6)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.153010099528655e+91" dist="3.8433669984288512e+90" dir="1.1845953345804043e+107">
              <a:srgbClr val="9AA7B4">
                <a:alpha val="2.8e+109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87,6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Disposición hacia la innovación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03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principal palanca institucional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.4643228264013918e+95" dist="4.8810760880046414e+94" dir="7.107572007482426e+111">
              <a:srgbClr val="9AA7B4">
                <a:alpha val="2.8e+114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26280" y="2148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pts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interés – destreza en IA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703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interés, práctica por consolidar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87452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1.8596899895297677e+99" dist="6.198966631765894e+98" dir="4.2645432044894554e+116">
              <a:srgbClr val="9AA7B4">
                <a:alpha val="2.8e+119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0" y="2148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F9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51,8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orientar a colegas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703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más baja: formar multiplicadores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10927080" cy="1005840"/>
          </a:xfrm>
          <a:prstGeom prst="roundRect">
            <a:avLst>
              <a:gd name="adj" fmla="val 7273"/>
            </a:avLst>
          </a:prstGeom>
          <a:solidFill>
            <a:srgbClr val="D5E8F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5029200"/>
            <a:ext cx="10195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Diplomado en IA convierte la alta disposición en práctica de aula: progresión de usuario a diseñador crítico y a multiplicador. (Índice global docente: 79,4 · 28 de 33 docentes)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82880" cy="182880"/>
          </a:xfrm>
          <a:prstGeom prst="diamond">
            <a:avLst/>
          </a:prstGeom>
          <a:solidFill>
            <a:srgbClr val="BF9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3840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 de continuidad y decisión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96112" y="10241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integran y adoptan estas dos tareas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2.361806286702805e+103" dist="7.872687622342685e+102" dir="2.5587259226936733e+121">
              <a:srgbClr val="9AA7B4">
                <a:alpha val="2.8e+124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240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1.4.4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260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Redacción integrada del modelo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ENSMA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977640" y="2880360"/>
            <a:ext cx="457200" cy="457200"/>
          </a:xfrm>
          <a:prstGeom prst="rightArrow">
            <a:avLst/>
          </a:prstGeom>
          <a:solidFill>
            <a:srgbClr val="2E75B6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196596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2.999493984112562e+107" dist="9.998313280375211e+106" dir="1.535235553616204e+126">
              <a:srgbClr val="9AA7B4">
                <a:alpha val="2.8e+129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754880" y="2240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1.4.5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9260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institucional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ENSMA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18120" y="2880360"/>
            <a:ext cx="457200" cy="457200"/>
          </a:xfrm>
          <a:prstGeom prst="rightArrow">
            <a:avLst/>
          </a:prstGeom>
          <a:solidFill>
            <a:srgbClr val="2E75B6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196596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BF9000"/>
          </a:solidFill>
          <a:ln/>
          <a:effectLst>
            <a:outerShdw sx="100000" sy="100000" kx="0" ky="0" algn="bl" rotWithShape="0" blurRad="3.809357359822954e+111" dist="1.2697857866076517e+111" dir="9.211413321697224e+130">
              <a:srgbClr val="9AA7B4">
                <a:alpha val="2.8e+134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595360" y="2240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1.4.6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29260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validado (candado)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709160"/>
            <a:ext cx="10927080" cy="1234440"/>
          </a:xfrm>
          <a:prstGeom prst="roundRect">
            <a:avLst>
              <a:gd name="adj" fmla="val 5926"/>
            </a:avLst>
          </a:prstGeom>
          <a:solidFill>
            <a:srgbClr val="1F4E79"/>
          </a:solidFill>
          <a:ln/>
          <a:effectLst>
            <a:outerShdw sx="100000" sy="100000" kx="0" ky="0" algn="bl" rotWithShape="0" blurRad="4.837883846975152e+115" dist="1.6126279489917177e+115" dir="5.526847993018334e+135">
              <a:srgbClr val="9AA7B4">
                <a:alpha val="2.8e+139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60120" y="4864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F9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pide a los directivos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52852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Deliberar y validar el modelo pedagógico para habilitar la Fase 4.   ·   EICIT propone; la ENSMA decide y adopta.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457200" cy="457200"/>
          </a:xfrm>
          <a:prstGeom prst="diamond">
            <a:avLst/>
          </a:prstGeom>
          <a:solidFill>
            <a:srgbClr val="BF9000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1143000"/>
            <a:ext cx="256032" cy="256032"/>
          </a:xfrm>
          <a:prstGeom prst="diamond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síntesis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innovación es identidad salesiana en clave contemporánea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840480"/>
            <a:ext cx="9875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hilo conductor desde preescolar hasta la analítica de datos.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Articulada con razón, religión y amabilidad, no yuxtapuesta.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declara; la Fase 4 construye; la ENSMA valida.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5852160"/>
            <a:ext cx="36576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· Escuela Iberoamericana de Ciencias Técnicas   —   Acompañamiento al PEI de la ENSMA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EICIT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EICIT IA — asistencia técnica</dc:creator>
  <cp:lastModifiedBy>EICIT IA — asistencia técnica</cp:lastModifiedBy>
  <cp:revision>1</cp:revision>
  <dcterms:created xsi:type="dcterms:W3CDTF">2026-09-05T16:40:20Z</dcterms:created>
  <dcterms:modified xsi:type="dcterms:W3CDTF">2026-09-05T16:40:20Z</dcterms:modified>
</cp:coreProperties>
</file>