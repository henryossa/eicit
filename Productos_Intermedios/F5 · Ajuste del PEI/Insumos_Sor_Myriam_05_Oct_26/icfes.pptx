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10"/>
  </p:notesMasterIdLst>
  <p:sldIdLst>
    <p:sldId id="256" r:id="rId2"/>
    <p:sldId id="266" r:id="rId3"/>
    <p:sldId id="257" r:id="rId4"/>
    <p:sldId id="258" r:id="rId5"/>
    <p:sldId id="273" r:id="rId6"/>
    <p:sldId id="313" r:id="rId7"/>
    <p:sldId id="314" r:id="rId8"/>
    <p:sldId id="27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Estilo oscuro 1 - Énfasis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C1D56-119D-408D-BE76-195EFEEAC078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647D4-CCB4-4013-B149-6E834962DF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692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5816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410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1487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2077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0108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7224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454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4447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1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93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301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3764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338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8305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9524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761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A611F-8680-49EE-89D5-37AB3ECDC386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D494AEE-6AEC-440E-AD3F-A87EDE7593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8273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2111" y="3955841"/>
            <a:ext cx="9767777" cy="1317643"/>
          </a:xfr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</a:pPr>
            <a:r>
              <a:rPr lang="es-CO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RESULTADOS ICFES 2026</a:t>
            </a:r>
            <a:endParaRPr lang="es-CO" b="0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67740" y="5548198"/>
            <a:ext cx="8949070" cy="521109"/>
          </a:xfrm>
        </p:spPr>
        <p:txBody>
          <a:bodyPr>
            <a:normAutofit/>
          </a:bodyPr>
          <a:lstStyle/>
          <a:p>
            <a:pPr algn="l"/>
            <a:r>
              <a:rPr lang="es-CO" sz="2800" dirty="0">
                <a:latin typeface="STHupo" panose="020B0503020204020204" pitchFamily="2" charset="-122"/>
                <a:ea typeface="STHupo" panose="020B0503020204020204" pitchFamily="2" charset="-122"/>
                <a:cs typeface="Times New Roman" panose="02020603050405020304" pitchFamily="18" charset="0"/>
              </a:rPr>
              <a:t>ESCUELA NORMAL SUPERIOR MARIA AUXILIADORA</a:t>
            </a:r>
            <a:r>
              <a:rPr lang="es-C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F71A406-3CB7-4E4D-B434-24E6AA4F3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1772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5877191-0599-0C9C-C768-4A2B308864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134" y="0"/>
            <a:ext cx="3561432" cy="450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29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7376739B-7D4F-F470-DD9B-62B17C375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760" y="183248"/>
            <a:ext cx="8626610" cy="617533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54F5276-3154-322E-1533-A6D3B6304A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359" y="3270914"/>
            <a:ext cx="2836333" cy="358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2017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48DB581-05F6-4BCF-8D45-3F46B9777E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359" y="3270914"/>
            <a:ext cx="2836333" cy="358708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455183C-4222-7284-38A6-FCCDF325C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323" y="138022"/>
            <a:ext cx="4853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370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3894" y="488414"/>
            <a:ext cx="8956713" cy="1320800"/>
          </a:xfrm>
        </p:spPr>
        <p:txBody>
          <a:bodyPr>
            <a:normAutofit/>
          </a:bodyPr>
          <a:lstStyle/>
          <a:p>
            <a:pPr algn="ctr"/>
            <a:r>
              <a:rPr lang="es-C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FF7DC2-2BCD-E456-FD70-402E109A6F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359" y="3270914"/>
            <a:ext cx="2836333" cy="358708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A6BE16C-D7F1-DA68-8321-7CBCFD873E4F}"/>
              </a:ext>
            </a:extLst>
          </p:cNvPr>
          <p:cNvSpPr txBox="1"/>
          <p:nvPr/>
        </p:nvSpPr>
        <p:spPr>
          <a:xfrm>
            <a:off x="481623" y="154676"/>
            <a:ext cx="9161253" cy="31521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200"/>
              </a:spcBef>
              <a:spcAft>
                <a:spcPts val="375"/>
              </a:spcAft>
              <a:buNone/>
            </a:pPr>
            <a:r>
              <a:rPr lang="es-ES" sz="2800" b="1" kern="0" dirty="0">
                <a:solidFill>
                  <a:srgbClr val="0070C0"/>
                </a:solidFill>
                <a:effectLst/>
                <a:latin typeface="Trade Gothic Next Heavy" panose="020B0903040303020004" pitchFamily="34" charset="0"/>
              </a:rPr>
              <a:t>ESCUELA NORMAL SUPERIOR </a:t>
            </a:r>
          </a:p>
          <a:p>
            <a:pPr algn="ctr">
              <a:lnSpc>
                <a:spcPct val="100000"/>
              </a:lnSpc>
              <a:spcBef>
                <a:spcPts val="1200"/>
              </a:spcBef>
              <a:spcAft>
                <a:spcPts val="375"/>
              </a:spcAft>
              <a:buNone/>
            </a:pPr>
            <a:r>
              <a:rPr lang="es-ES" sz="2800" b="1" kern="0" dirty="0">
                <a:solidFill>
                  <a:srgbClr val="0070C0"/>
                </a:solidFill>
                <a:effectLst/>
                <a:latin typeface="Trade Gothic Next Heavy" panose="020B0903040303020004" pitchFamily="34" charset="0"/>
              </a:rPr>
              <a:t>MARIA AUXILIADORA SOACHA</a:t>
            </a:r>
          </a:p>
          <a:p>
            <a:pPr algn="ctr">
              <a:lnSpc>
                <a:spcPct val="100000"/>
              </a:lnSpc>
              <a:buNone/>
            </a:pPr>
            <a:r>
              <a:rPr lang="es-ES" sz="2800" b="1" dirty="0">
                <a:solidFill>
                  <a:srgbClr val="0070C0"/>
                </a:solidFill>
                <a:latin typeface="Trade Gothic Next Heavy" panose="020B0903040303020004" pitchFamily="34" charset="0"/>
                <a:ea typeface="Arial" panose="020B0604020202020204" pitchFamily="34" charset="0"/>
              </a:rPr>
              <a:t>Resumen General de Desempeño</a:t>
            </a:r>
          </a:p>
          <a:p>
            <a:pPr marL="114300" marR="114300">
              <a:lnSpc>
                <a:spcPct val="100000"/>
              </a:lnSpc>
              <a:spcBef>
                <a:spcPts val="1125"/>
              </a:spcBef>
              <a:spcAft>
                <a:spcPts val="600"/>
              </a:spcAft>
              <a:buNone/>
            </a:pPr>
            <a:endParaRPr lang="es-ES" sz="2800" b="1" dirty="0">
              <a:solidFill>
                <a:srgbClr val="0070C0"/>
              </a:solidFill>
              <a:latin typeface="Trade Gothic Next Heavy" panose="020B0903040303020004" pitchFamily="34" charset="0"/>
              <a:ea typeface="Arial" panose="020B0604020202020204" pitchFamily="34" charset="0"/>
            </a:endParaRPr>
          </a:p>
          <a:p>
            <a:pPr marL="342900" marR="114300" lvl="0" indent="-342900" fontAlgn="base">
              <a:lnSpc>
                <a:spcPct val="100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●"/>
            </a:pPr>
            <a:endParaRPr lang="es-ES" sz="2800" b="1" dirty="0">
              <a:solidFill>
                <a:srgbClr val="002060"/>
              </a:solidFill>
              <a:latin typeface="Trade Gothic Next Heavy" panose="020B09030403030200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es-ES" sz="2800" dirty="0">
              <a:solidFill>
                <a:schemeClr val="tx1"/>
              </a:solidFill>
              <a:effectLst/>
              <a:latin typeface="Trade Gothic Next Heavy" panose="020B09030403030200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BB35C8B7-0D84-4C3D-8E98-EED1203B2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454423"/>
              </p:ext>
            </p:extLst>
          </p:nvPr>
        </p:nvGraphicFramePr>
        <p:xfrm>
          <a:off x="1112807" y="2070208"/>
          <a:ext cx="7539486" cy="3269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93434">
                  <a:extLst>
                    <a:ext uri="{9D8B030D-6E8A-4147-A177-3AD203B41FA5}">
                      <a16:colId xmlns:a16="http://schemas.microsoft.com/office/drawing/2014/main" val="34306890"/>
                    </a:ext>
                  </a:extLst>
                </a:gridCol>
                <a:gridCol w="1846052">
                  <a:extLst>
                    <a:ext uri="{9D8B030D-6E8A-4147-A177-3AD203B41FA5}">
                      <a16:colId xmlns:a16="http://schemas.microsoft.com/office/drawing/2014/main" val="231221451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s-E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rade Gothic Next Heavy" panose="020B0903040303020004" pitchFamily="34" charset="0"/>
                          <a:ea typeface="Arial" panose="020B0604020202020204" pitchFamily="34" charset="0"/>
                        </a:rPr>
                        <a:t>REPORTE RESULTADOS 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s-E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Trade Gothic Next Heavy" panose="020B0903040303020004" pitchFamily="34" charset="0"/>
                          <a:ea typeface="Arial" panose="020B0604020202020204" pitchFamily="34" charset="0"/>
                        </a:rPr>
                        <a:t>PRUEBAS SABER 11 / ICFES 2026</a:t>
                      </a:r>
                      <a:endParaRPr lang="es-ES" sz="20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endParaRPr lang="es-ES" sz="1100" dirty="0">
                        <a:solidFill>
                          <a:srgbClr val="222222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993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buNone/>
                      </a:pPr>
                      <a:r>
                        <a:rPr lang="es-ES" sz="2000" dirty="0">
                          <a:effectLst/>
                          <a:latin typeface="Trade Gothic Next Heavy" panose="020B0903040303020004" pitchFamily="34" charset="0"/>
                        </a:rPr>
                        <a:t>Total, Estudiantes Evaluados</a:t>
                      </a:r>
                      <a:endParaRPr lang="es-ES" sz="1100" dirty="0">
                        <a:solidFill>
                          <a:srgbClr val="222222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s-ES" sz="2400" dirty="0">
                          <a:effectLst/>
                          <a:latin typeface="Trade Gothic Next Heavy" panose="020B0903040303020004" pitchFamily="34" charset="0"/>
                        </a:rPr>
                        <a:t>29</a:t>
                      </a:r>
                      <a:endParaRPr lang="es-ES" sz="1100" dirty="0">
                        <a:solidFill>
                          <a:srgbClr val="222222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98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 dirty="0">
                          <a:effectLst/>
                          <a:latin typeface="Trade Gothic Next Heavy" panose="020B0903040303020004" pitchFamily="34" charset="0"/>
                        </a:rPr>
                        <a:t>Total estudiantes sobre 300 puntos </a:t>
                      </a:r>
                      <a:endParaRPr lang="es-ES" sz="1200" b="1" dirty="0">
                        <a:solidFill>
                          <a:srgbClr val="222222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  <a:p>
                      <a:pPr>
                        <a:lnSpc>
                          <a:spcPct val="125000"/>
                        </a:lnSpc>
                        <a:buNone/>
                      </a:pPr>
                      <a:endParaRPr lang="es-ES" sz="1100" dirty="0">
                        <a:solidFill>
                          <a:srgbClr val="222222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s-ES" sz="2400" dirty="0">
                          <a:effectLst/>
                          <a:latin typeface="Trade Gothic Next Heavy" panose="020B0903040303020004" pitchFamily="34" charset="0"/>
                        </a:rPr>
                        <a:t>12</a:t>
                      </a:r>
                      <a:endParaRPr lang="es-ES" sz="1100" dirty="0">
                        <a:solidFill>
                          <a:srgbClr val="222222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940356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buNone/>
                      </a:pPr>
                      <a:r>
                        <a:rPr lang="es-ES" sz="2000" dirty="0">
                          <a:effectLst/>
                          <a:latin typeface="Trade Gothic Next Heavy" panose="020B0903040303020004" pitchFamily="34" charset="0"/>
                        </a:rPr>
                        <a:t>Total estudiante entre 299 y 230</a:t>
                      </a:r>
                      <a:endParaRPr lang="es-ES" sz="1100" dirty="0">
                        <a:solidFill>
                          <a:srgbClr val="222222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s-ES" sz="2400" dirty="0">
                          <a:effectLst/>
                          <a:latin typeface="Trade Gothic Next Heavy" panose="020B0903040303020004" pitchFamily="34" charset="0"/>
                        </a:rPr>
                        <a:t>17</a:t>
                      </a:r>
                      <a:endParaRPr lang="es-ES" sz="1100" dirty="0">
                        <a:solidFill>
                          <a:srgbClr val="222222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9519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buNone/>
                      </a:pPr>
                      <a:r>
                        <a:rPr lang="es-ES" sz="2000" dirty="0">
                          <a:effectLst/>
                        </a:rPr>
                        <a:t> </a:t>
                      </a:r>
                      <a:r>
                        <a:rPr lang="es-ES" sz="2000" b="1" dirty="0">
                          <a:solidFill>
                            <a:srgbClr val="002060"/>
                          </a:solidFill>
                          <a:latin typeface="Trade Gothic Next Heavy" panose="020B09030403030200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Puntaje Máximo Obtenido:</a:t>
                      </a:r>
                      <a:r>
                        <a:rPr lang="es-ES" sz="2000" dirty="0">
                          <a:solidFill>
                            <a:srgbClr val="002060"/>
                          </a:solidFill>
                          <a:latin typeface="Trade Gothic Next Heavy" panose="020B09030403030200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 María José Suarez</a:t>
                      </a:r>
                      <a:endParaRPr lang="es-ES" sz="1100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s-ES" sz="2400" dirty="0">
                          <a:solidFill>
                            <a:srgbClr val="002060"/>
                          </a:solidFill>
                          <a:latin typeface="Trade Gothic Next Heavy" panose="020B09030403030200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387 puntos </a:t>
                      </a:r>
                      <a:r>
                        <a:rPr lang="es-ES" sz="24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endParaRPr lang="es-ES" sz="1100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139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25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0447" y="371456"/>
            <a:ext cx="8160587" cy="672340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Trade Gothic Next Heavy" panose="020B0903040303020004" pitchFamily="34" charset="0"/>
              </a:rPr>
              <a:t>Resumen General de Desempeño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3DDAA879-8AAE-9390-FAE2-EF6C5280D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612174"/>
              </p:ext>
            </p:extLst>
          </p:nvPr>
        </p:nvGraphicFramePr>
        <p:xfrm>
          <a:off x="1086929" y="1552754"/>
          <a:ext cx="8160587" cy="4061559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2040147">
                  <a:extLst>
                    <a:ext uri="{9D8B030D-6E8A-4147-A177-3AD203B41FA5}">
                      <a16:colId xmlns:a16="http://schemas.microsoft.com/office/drawing/2014/main" val="946212056"/>
                    </a:ext>
                  </a:extLst>
                </a:gridCol>
                <a:gridCol w="2040147">
                  <a:extLst>
                    <a:ext uri="{9D8B030D-6E8A-4147-A177-3AD203B41FA5}">
                      <a16:colId xmlns:a16="http://schemas.microsoft.com/office/drawing/2014/main" val="288215619"/>
                    </a:ext>
                  </a:extLst>
                </a:gridCol>
                <a:gridCol w="1844851">
                  <a:extLst>
                    <a:ext uri="{9D8B030D-6E8A-4147-A177-3AD203B41FA5}">
                      <a16:colId xmlns:a16="http://schemas.microsoft.com/office/drawing/2014/main" val="164220475"/>
                    </a:ext>
                  </a:extLst>
                </a:gridCol>
                <a:gridCol w="2235442">
                  <a:extLst>
                    <a:ext uri="{9D8B030D-6E8A-4147-A177-3AD203B41FA5}">
                      <a16:colId xmlns:a16="http://schemas.microsoft.com/office/drawing/2014/main" val="2726449143"/>
                    </a:ext>
                  </a:extLst>
                </a:gridCol>
              </a:tblGrid>
              <a:tr h="702792"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chemeClr val="bg1"/>
                          </a:solidFill>
                          <a:effectLst/>
                          <a:latin typeface="Trade Gothic Next Heavy" panose="020B0903040303020004" pitchFamily="34" charset="0"/>
                        </a:rPr>
                        <a:t>Asignatura / Área</a:t>
                      </a:r>
                      <a:endParaRPr lang="es-ES" sz="3200" dirty="0">
                        <a:solidFill>
                          <a:schemeClr val="bg1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chemeClr val="bg1"/>
                          </a:solidFill>
                          <a:effectLst/>
                          <a:latin typeface="Trade Gothic Next Heavy" panose="020B0903040303020004" pitchFamily="34" charset="0"/>
                        </a:rPr>
                        <a:t>Promedio Institucional</a:t>
                      </a:r>
                      <a:endParaRPr lang="es-ES" sz="3200" dirty="0">
                        <a:solidFill>
                          <a:schemeClr val="bg1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chemeClr val="bg1"/>
                          </a:solidFill>
                          <a:effectLst/>
                          <a:latin typeface="Trade Gothic Next Heavy" panose="020B0903040303020004" pitchFamily="34" charset="0"/>
                        </a:rPr>
                        <a:t>Puntaje Máximo Obtenido</a:t>
                      </a:r>
                      <a:endParaRPr lang="es-ES" sz="3200" dirty="0">
                        <a:solidFill>
                          <a:schemeClr val="bg1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chemeClr val="bg1"/>
                          </a:solidFill>
                          <a:effectLst/>
                          <a:latin typeface="Trade Gothic Next Heavy" panose="020B0903040303020004" pitchFamily="34" charset="0"/>
                        </a:rPr>
                        <a:t>Estado General</a:t>
                      </a:r>
                      <a:endParaRPr lang="es-ES" sz="3200" dirty="0">
                        <a:solidFill>
                          <a:schemeClr val="bg1"/>
                        </a:solidFill>
                        <a:effectLst/>
                        <a:latin typeface="Trade Gothic Next Heavy" panose="020B0903040303020004" pitchFamily="34" charset="0"/>
                      </a:endParaRPr>
                    </a:p>
                    <a:p>
                      <a:pPr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chemeClr val="bg1"/>
                          </a:solidFill>
                          <a:effectLst/>
                          <a:latin typeface="Trade Gothic Next Heavy" panose="020B0903040303020004" pitchFamily="34" charset="0"/>
                        </a:rPr>
                        <a:t> </a:t>
                      </a:r>
                      <a:endParaRPr lang="es-ES" sz="3200" dirty="0">
                        <a:solidFill>
                          <a:schemeClr val="bg1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600575"/>
                  </a:ext>
                </a:extLst>
              </a:tr>
              <a:tr h="653276">
                <a:tc>
                  <a:txBody>
                    <a:bodyPr/>
                    <a:lstStyle/>
                    <a:p>
                      <a:pPr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Inglés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66.55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82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Excelente / Nivel Destacado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198888"/>
                  </a:ext>
                </a:extLst>
              </a:tr>
              <a:tr h="400911">
                <a:tc>
                  <a:txBody>
                    <a:bodyPr/>
                    <a:lstStyle/>
                    <a:p>
                      <a:pPr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Lectura Crítica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60.83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100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Satisfactorio / Alto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574988"/>
                  </a:ext>
                </a:extLst>
              </a:tr>
              <a:tr h="400911">
                <a:tc>
                  <a:txBody>
                    <a:bodyPr/>
                    <a:lstStyle/>
                    <a:p>
                      <a:pPr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Sociales y Ciudadanas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59.59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76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Satisfactorio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820195"/>
                  </a:ext>
                </a:extLst>
              </a:tr>
              <a:tr h="400911">
                <a:tc>
                  <a:txBody>
                    <a:bodyPr/>
                    <a:lstStyle/>
                    <a:p>
                      <a:pPr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Ciencias Naturales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58.65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76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Satisfactorio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117970"/>
                  </a:ext>
                </a:extLst>
              </a:tr>
              <a:tr h="400911">
                <a:tc>
                  <a:txBody>
                    <a:bodyPr/>
                    <a:lstStyle/>
                    <a:p>
                      <a:pPr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Matemáticas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57.10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79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Por Reforzar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19434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8E823977-CDCE-1C75-44B7-182810859C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359" y="3270914"/>
            <a:ext cx="2836333" cy="358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2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3165-9430-AC26-5CC7-DB173DFA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FF628-2C3C-1EAE-CAEC-DD7D9FA2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447" y="371456"/>
            <a:ext cx="8160587" cy="672340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Trade Gothic Next Heavy" panose="020B0903040303020004" pitchFamily="34" charset="0"/>
              </a:rPr>
              <a:t>PUNTAJE DE LAS AREAS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363CAA-E93F-B821-32C4-B6CDC9D517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1843" y="-284672"/>
            <a:ext cx="1695029" cy="214368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F31B08C-0240-34E4-1B81-63C0E9E73C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14"/>
          <a:stretch>
            <a:fillRect/>
          </a:stretch>
        </p:blipFill>
        <p:spPr bwMode="auto">
          <a:xfrm>
            <a:off x="447105" y="1162155"/>
            <a:ext cx="4923675" cy="54050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E4414E1-0792-581B-CA69-A770D605F6B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70740" y="1437685"/>
            <a:ext cx="5896132" cy="524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6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564DA-53BD-E8D7-C191-FCC2FCB0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71084-8DC2-EC6E-6480-4D870309D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447" y="371456"/>
            <a:ext cx="8160587" cy="672340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>
                    <a:lumMod val="95000"/>
                  </a:schemeClr>
                </a:solidFill>
                <a:latin typeface="Trade Gothic Next Heavy" panose="020B0903040303020004" pitchFamily="34" charset="0"/>
              </a:rPr>
              <a:t>Resumen General de Desempeño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1DCD090F-87F1-E348-A61B-44A13B2E34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295694"/>
              </p:ext>
            </p:extLst>
          </p:nvPr>
        </p:nvGraphicFramePr>
        <p:xfrm>
          <a:off x="1086929" y="1552754"/>
          <a:ext cx="8160587" cy="4338927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743820">
                  <a:extLst>
                    <a:ext uri="{9D8B030D-6E8A-4147-A177-3AD203B41FA5}">
                      <a16:colId xmlns:a16="http://schemas.microsoft.com/office/drawing/2014/main" val="946212056"/>
                    </a:ext>
                  </a:extLst>
                </a:gridCol>
                <a:gridCol w="1163281">
                  <a:extLst>
                    <a:ext uri="{9D8B030D-6E8A-4147-A177-3AD203B41FA5}">
                      <a16:colId xmlns:a16="http://schemas.microsoft.com/office/drawing/2014/main" val="288215619"/>
                    </a:ext>
                  </a:extLst>
                </a:gridCol>
                <a:gridCol w="3018044">
                  <a:extLst>
                    <a:ext uri="{9D8B030D-6E8A-4147-A177-3AD203B41FA5}">
                      <a16:colId xmlns:a16="http://schemas.microsoft.com/office/drawing/2014/main" val="164220475"/>
                    </a:ext>
                  </a:extLst>
                </a:gridCol>
                <a:gridCol w="2235442">
                  <a:extLst>
                    <a:ext uri="{9D8B030D-6E8A-4147-A177-3AD203B41FA5}">
                      <a16:colId xmlns:a16="http://schemas.microsoft.com/office/drawing/2014/main" val="2726449143"/>
                    </a:ext>
                  </a:extLst>
                </a:gridCol>
              </a:tblGrid>
              <a:tr h="702792"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chemeClr val="bg1"/>
                          </a:solidFill>
                          <a:effectLst/>
                          <a:latin typeface="Trade Gothic Next Heavy" panose="020B0903040303020004" pitchFamily="34" charset="0"/>
                        </a:rPr>
                        <a:t>Asignatura / Área</a:t>
                      </a:r>
                      <a:endParaRPr lang="es-ES" sz="3200" dirty="0">
                        <a:solidFill>
                          <a:schemeClr val="bg1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chemeClr val="bg1"/>
                          </a:solidFill>
                          <a:effectLst/>
                          <a:latin typeface="Trade Gothic Next Heavy" panose="020B0903040303020004" pitchFamily="34" charset="0"/>
                        </a:rPr>
                        <a:t>Promedio Institucional</a:t>
                      </a:r>
                      <a:endParaRPr lang="es-ES" sz="3200" dirty="0">
                        <a:solidFill>
                          <a:schemeClr val="bg1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chemeClr val="bg1"/>
                          </a:solidFill>
                          <a:effectLst/>
                          <a:latin typeface="Trade Gothic Next Heavy" panose="020B0903040303020004" pitchFamily="34" charset="0"/>
                        </a:rPr>
                        <a:t>Puntaje Máximo Obtenido</a:t>
                      </a:r>
                      <a:endParaRPr lang="es-ES" sz="3200" dirty="0">
                        <a:solidFill>
                          <a:schemeClr val="bg1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chemeClr val="bg1"/>
                          </a:solidFill>
                          <a:effectLst/>
                          <a:latin typeface="Trade Gothic Next Heavy" panose="020B0903040303020004" pitchFamily="34" charset="0"/>
                        </a:rPr>
                        <a:t>Estado General</a:t>
                      </a:r>
                      <a:endParaRPr lang="es-ES" sz="3200" dirty="0">
                        <a:solidFill>
                          <a:schemeClr val="bg1"/>
                        </a:solidFill>
                        <a:effectLst/>
                        <a:latin typeface="Trade Gothic Next Heavy" panose="020B0903040303020004" pitchFamily="34" charset="0"/>
                      </a:endParaRPr>
                    </a:p>
                    <a:p>
                      <a:pPr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chemeClr val="bg1"/>
                          </a:solidFill>
                          <a:effectLst/>
                          <a:latin typeface="Trade Gothic Next Heavy" panose="020B0903040303020004" pitchFamily="34" charset="0"/>
                        </a:rPr>
                        <a:t> </a:t>
                      </a:r>
                      <a:endParaRPr lang="es-ES" sz="3200" dirty="0">
                        <a:solidFill>
                          <a:schemeClr val="bg1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600575"/>
                  </a:ext>
                </a:extLst>
              </a:tr>
              <a:tr h="653276">
                <a:tc>
                  <a:txBody>
                    <a:bodyPr/>
                    <a:lstStyle/>
                    <a:p>
                      <a:pPr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Inglés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66.55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82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Excelente / Nivel Destacado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198888"/>
                  </a:ext>
                </a:extLst>
              </a:tr>
              <a:tr h="400911">
                <a:tc>
                  <a:txBody>
                    <a:bodyPr/>
                    <a:lstStyle/>
                    <a:p>
                      <a:pPr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Lectura Crítica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60.83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100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Satisfactorio / Alto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574988"/>
                  </a:ext>
                </a:extLst>
              </a:tr>
              <a:tr h="400911">
                <a:tc>
                  <a:txBody>
                    <a:bodyPr/>
                    <a:lstStyle/>
                    <a:p>
                      <a:pPr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Sociales y Ciudadanas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59.59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76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Satisfactorio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820195"/>
                  </a:ext>
                </a:extLst>
              </a:tr>
              <a:tr h="400911">
                <a:tc>
                  <a:txBody>
                    <a:bodyPr/>
                    <a:lstStyle/>
                    <a:p>
                      <a:pPr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Ciencias Naturales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58.65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76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Satisfactorio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117970"/>
                  </a:ext>
                </a:extLst>
              </a:tr>
              <a:tr h="400911">
                <a:tc>
                  <a:txBody>
                    <a:bodyPr/>
                    <a:lstStyle/>
                    <a:p>
                      <a:pPr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Matemáticas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57.10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79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909"/>
                        </a:lnSpc>
                        <a:buNone/>
                      </a:pPr>
                      <a:r>
                        <a:rPr lang="es-ES" sz="2000" dirty="0">
                          <a:solidFill>
                            <a:srgbClr val="002060"/>
                          </a:solidFill>
                          <a:effectLst/>
                          <a:latin typeface="Trade Gothic Next Heavy" panose="020B0903040303020004" pitchFamily="34" charset="0"/>
                        </a:rPr>
                        <a:t>Por Reforzar</a:t>
                      </a:r>
                      <a:endParaRPr lang="es-ES" sz="3200" dirty="0">
                        <a:solidFill>
                          <a:srgbClr val="002060"/>
                        </a:solidFill>
                        <a:effectLst/>
                        <a:latin typeface="Trade Gothic Next Heavy" panose="020B0903040303020004" pitchFamily="34" charset="0"/>
                        <a:ea typeface="Arial" panose="020B0604020202020204" pitchFamily="34" charset="0"/>
                      </a:endParaRPr>
                    </a:p>
                  </a:txBody>
                  <a:tcPr marL="47625" marR="47625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19434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E01A4B7B-E95E-E747-F613-A38B41FA55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359" y="3270914"/>
            <a:ext cx="2836333" cy="358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38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esultado de imagen para GRACIA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55" y="604802"/>
            <a:ext cx="8634595" cy="507990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18139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1045</TotalTime>
  <Words>150</Words>
  <Application>Microsoft Office PowerPoint</Application>
  <PresentationFormat>Panorámica</PresentationFormat>
  <Paragraphs>70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STHupo</vt:lpstr>
      <vt:lpstr>Aharoni</vt:lpstr>
      <vt:lpstr>Arial</vt:lpstr>
      <vt:lpstr>Calibri</vt:lpstr>
      <vt:lpstr>Times New Roman</vt:lpstr>
      <vt:lpstr>Trade Gothic Next Heavy</vt:lpstr>
      <vt:lpstr>Trebuchet MS</vt:lpstr>
      <vt:lpstr>Wingdings 3</vt:lpstr>
      <vt:lpstr>Faceta</vt:lpstr>
      <vt:lpstr>RESULTADOS ICFES 2026</vt:lpstr>
      <vt:lpstr>Presentación de PowerPoint</vt:lpstr>
      <vt:lpstr>Presentación de PowerPoint</vt:lpstr>
      <vt:lpstr>.</vt:lpstr>
      <vt:lpstr>Resumen General de Desempeño</vt:lpstr>
      <vt:lpstr>PUNTAJE DE LAS AREAS </vt:lpstr>
      <vt:lpstr>Resumen General de Desempeño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CONVIVENCIA ESCOLAR. LEY 1620-2013</dc:title>
  <dc:creator>SECRETARIA</dc:creator>
  <cp:lastModifiedBy>SOR MIRYAM SANCHEZ</cp:lastModifiedBy>
  <cp:revision>31</cp:revision>
  <dcterms:created xsi:type="dcterms:W3CDTF">2017-03-01T21:28:10Z</dcterms:created>
  <dcterms:modified xsi:type="dcterms:W3CDTF">2026-10-02T16:50:26Z</dcterms:modified>
</cp:coreProperties>
</file>